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8" r:id="rId2"/>
    <p:sldId id="259" r:id="rId3"/>
    <p:sldId id="262" r:id="rId4"/>
    <p:sldId id="265" r:id="rId5"/>
    <p:sldId id="271" r:id="rId6"/>
    <p:sldId id="270" r:id="rId7"/>
    <p:sldId id="269" r:id="rId8"/>
    <p:sldId id="274" r:id="rId9"/>
    <p:sldId id="268" r:id="rId10"/>
    <p:sldId id="273" r:id="rId11"/>
    <p:sldId id="266"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2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60872" autoAdjust="0"/>
  </p:normalViewPr>
  <p:slideViewPr>
    <p:cSldViewPr snapToGrid="0">
      <p:cViewPr varScale="1">
        <p:scale>
          <a:sx n="98" d="100"/>
          <a:sy n="98" d="100"/>
        </p:scale>
        <p:origin x="2632" y="56"/>
      </p:cViewPr>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7322F1-4820-40A8-A519-5CC1E3DDF7CE}"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401276-89C2-4189-B7FA-ED40FA8ADAC5}" type="slidenum">
              <a:rPr lang="en-US" smtClean="0"/>
              <a:t>‹#›</a:t>
            </a:fld>
            <a:endParaRPr lang="en-US"/>
          </a:p>
        </p:txBody>
      </p:sp>
    </p:spTree>
    <p:extLst>
      <p:ext uri="{BB962C8B-B14F-4D97-AF65-F5344CB8AC3E}">
        <p14:creationId xmlns:p14="http://schemas.microsoft.com/office/powerpoint/2010/main" val="25633186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our AAI-510 final project, we explored how machine learning can be used to predict student academic performance and identify students who may be academically at risk before poor outcomes occur.</a:t>
            </a:r>
          </a:p>
          <a:p>
            <a:r>
              <a:rPr lang="en-US" dirty="0"/>
              <a:t>Schools collect a large amount of information about students, including attendance, study habits, parental involvement, and tutoring participation. However, identifying students who need support early enough for meaningful intervention remains a significant challenge.</a:t>
            </a:r>
          </a:p>
          <a:p>
            <a:r>
              <a:rPr lang="en-US" dirty="0"/>
              <a:t>Our goal was to develop a machine learning solution that can analyze these factors and serve as an early warning system for educators. Throughout this presentation, we'll discuss the business problem, the dataset and analysis process, the machine learning models we evaluated, our results, and our recommendations for real-world deployment.</a:t>
            </a:r>
          </a:p>
          <a:p>
            <a:r>
              <a:rPr lang="en-US" dirty="0"/>
              <a:t>To begin, let's look at the challenges schools face when trying to identify struggling students.</a:t>
            </a:r>
          </a:p>
        </p:txBody>
      </p:sp>
      <p:sp>
        <p:nvSpPr>
          <p:cNvPr id="4" name="Slide Number Placeholder 3"/>
          <p:cNvSpPr>
            <a:spLocks noGrp="1"/>
          </p:cNvSpPr>
          <p:nvPr>
            <p:ph type="sldNum" sz="quarter" idx="5"/>
          </p:nvPr>
        </p:nvSpPr>
        <p:spPr/>
        <p:txBody>
          <a:bodyPr/>
          <a:lstStyle/>
          <a:p>
            <a:fld id="{FE401276-89C2-4189-B7FA-ED40FA8ADAC5}" type="slidenum">
              <a:rPr lang="en-US" smtClean="0"/>
              <a:t>1</a:t>
            </a:fld>
            <a:endParaRPr lang="en-US"/>
          </a:p>
        </p:txBody>
      </p:sp>
    </p:spTree>
    <p:extLst>
      <p:ext uri="{BB962C8B-B14F-4D97-AF65-F5344CB8AC3E}">
        <p14:creationId xmlns:p14="http://schemas.microsoft.com/office/powerpoint/2010/main" val="372691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that we've introduced the project, let's discuss the business problem we set out to solve.</a:t>
            </a:r>
          </a:p>
          <a:p>
            <a:r>
              <a:rPr lang="en-US" dirty="0"/>
              <a:t>Schools collect a large amount of information about their students, including attendance, study habits, tutoring participation, extracurricular activities, and family support. However, many schools still struggle to identify students who are beginning to fall behind until poor performance becomes visible through grades or assessments.</a:t>
            </a:r>
          </a:p>
          <a:p>
            <a:r>
              <a:rPr lang="en-US" dirty="0"/>
              <a:t>This creates a reactive approach rather than a proactive one. By the time a student starts failing classes, valuable opportunities for early intervention may already have been missed.</a:t>
            </a:r>
          </a:p>
          <a:p>
            <a:r>
              <a:rPr lang="en-US" dirty="0"/>
              <a:t>As shown on this slide, late identification can lead to several challenges. Students may not receive timely academic support, counseling, or tutoring when they need it most. It can also negatively impact student success, reduce engagement, and make it more difficult for schools to use their limited resources effectively. In the long term, continued academic struggles can increase the risk of lower graduation rates and reduced educational opportunities.</a:t>
            </a:r>
          </a:p>
          <a:p>
            <a:r>
              <a:rPr lang="en-US" dirty="0"/>
              <a:t>Because of these challenges, our goal was to develop a machine learning solution that could identify academically at-risk students before poor outcomes occur. By doing so, educators could intervene earlier, provide targeted support, and make more informed decisions about resource allocation.</a:t>
            </a:r>
          </a:p>
          <a:p>
            <a:r>
              <a:rPr lang="en-US" dirty="0"/>
              <a:t>To build this solution, we first needed to understand the data available to us and determine whether it contained meaningful indicators of academic risk. Let's take a closer look at the dataset we used and how we defined academic risk in this project.</a:t>
            </a:r>
          </a:p>
        </p:txBody>
      </p:sp>
      <p:sp>
        <p:nvSpPr>
          <p:cNvPr id="4" name="Slide Number Placeholder 3"/>
          <p:cNvSpPr>
            <a:spLocks noGrp="1"/>
          </p:cNvSpPr>
          <p:nvPr>
            <p:ph type="sldNum" sz="quarter" idx="5"/>
          </p:nvPr>
        </p:nvSpPr>
        <p:spPr/>
        <p:txBody>
          <a:bodyPr/>
          <a:lstStyle/>
          <a:p>
            <a:fld id="{FE401276-89C2-4189-B7FA-ED40FA8ADAC5}" type="slidenum">
              <a:rPr lang="en-US" smtClean="0"/>
              <a:t>2</a:t>
            </a:fld>
            <a:endParaRPr lang="en-US"/>
          </a:p>
        </p:txBody>
      </p:sp>
    </p:spTree>
    <p:extLst>
      <p:ext uri="{BB962C8B-B14F-4D97-AF65-F5344CB8AC3E}">
        <p14:creationId xmlns:p14="http://schemas.microsoft.com/office/powerpoint/2010/main" val="1746908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defining the business problem, the next step was understanding the data available to help solve it.</a:t>
            </a:r>
          </a:p>
          <a:p>
            <a:r>
              <a:rPr lang="en-US" dirty="0"/>
              <a:t>For this project, we used a student performance dataset containing 2,392 student records. The dataset included a variety of academic, behavioral, demographic, and support-related factors that may influence student success. Some examples include attendance, study time, tutoring participation, parental support, extracurricular activities, and physical activity.</a:t>
            </a:r>
          </a:p>
          <a:p>
            <a:r>
              <a:rPr lang="en-US" dirty="0"/>
              <a:t>One of our first tasks was defining what it means for a student to be academically at risk. To create a business-focused target variable, we classified students earning D or F grades as "At Risk" and students earning A, B, or C grades as "Not At Risk."</a:t>
            </a:r>
          </a:p>
          <a:p>
            <a:r>
              <a:rPr lang="en-US" dirty="0"/>
              <a:t>This allowed us to frame the problem as a binary classification task, where the goal is to predict whether a student may require additional academic support.</a:t>
            </a:r>
          </a:p>
          <a:p>
            <a:r>
              <a:rPr lang="en-US" dirty="0"/>
              <a:t>On the right side of the slide, you can see the distribution of students in each category. Approximately 1,625 students were classified as at risk and 767 students as not at risk. Because the dataset is somewhat imbalanced, we used multiple evaluation metrics throughout the project rather than relying on accuracy alone.</a:t>
            </a:r>
          </a:p>
          <a:p>
            <a:r>
              <a:rPr lang="en-US" dirty="0"/>
              <a:t>Overall, this dataset provided a strong foundation for building predictive models and understanding the factors associated with academic risk.</a:t>
            </a:r>
          </a:p>
          <a:p>
            <a:r>
              <a:rPr lang="en-US" dirty="0"/>
              <a:t>Once we understood the structure of the dataset, we performed exploratory data analysis to identify patterns and determine which factors appeared to have the strongest relationship with academic risk.</a:t>
            </a:r>
          </a:p>
          <a:p>
            <a:endParaRPr lang="en-US" dirty="0"/>
          </a:p>
        </p:txBody>
      </p:sp>
      <p:sp>
        <p:nvSpPr>
          <p:cNvPr id="4" name="Slide Number Placeholder 3"/>
          <p:cNvSpPr>
            <a:spLocks noGrp="1"/>
          </p:cNvSpPr>
          <p:nvPr>
            <p:ph type="sldNum" sz="quarter" idx="5"/>
          </p:nvPr>
        </p:nvSpPr>
        <p:spPr/>
        <p:txBody>
          <a:bodyPr/>
          <a:lstStyle/>
          <a:p>
            <a:fld id="{FE401276-89C2-4189-B7FA-ED40FA8ADAC5}" type="slidenum">
              <a:rPr lang="en-US" smtClean="0"/>
              <a:t>3</a:t>
            </a:fld>
            <a:endParaRPr lang="en-US"/>
          </a:p>
        </p:txBody>
      </p:sp>
    </p:spTree>
    <p:extLst>
      <p:ext uri="{BB962C8B-B14F-4D97-AF65-F5344CB8AC3E}">
        <p14:creationId xmlns:p14="http://schemas.microsoft.com/office/powerpoint/2010/main" val="13530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gaining an understanding of the dataset, we performed exploratory data analysis to identify patterns that could help explain academic risk.</a:t>
            </a:r>
          </a:p>
          <a:p>
            <a:r>
              <a:rPr lang="en-US" dirty="0"/>
              <a:t>The purpose of this phase was not only to prepare the data for machine learning but also to understand which student behaviors and support factors were most closely related to academic performance.</a:t>
            </a:r>
          </a:p>
          <a:p>
            <a:r>
              <a:rPr lang="en-US" dirty="0"/>
              <a:t>One of the strongest findings involved attendance. Looking at the chart on the left, students classified as at risk generally had significantly higher numbers of absences than students who were not at risk. This suggests that poor attendance is strongly associated with academic difficulties and may serve as an early warning sign for educators.</a:t>
            </a:r>
          </a:p>
          <a:p>
            <a:r>
              <a:rPr lang="en-US" dirty="0"/>
              <a:t>The second chart shows weekly study time. Here we see another clear pattern: students who were not at risk tended to spend more time studying each week, while at-risk students generally studied fewer hours. This highlights the importance of consistent study habits in supporting academic success.</a:t>
            </a:r>
          </a:p>
          <a:p>
            <a:r>
              <a:rPr lang="en-US" dirty="0"/>
              <a:t>Our broader analysis also showed that at-risk students were more likely to report lower parental support, participate less in tutoring programs, and demonstrate lower levels of academic engagement.</a:t>
            </a:r>
          </a:p>
          <a:p>
            <a:r>
              <a:rPr lang="en-US" dirty="0"/>
              <a:t>An important takeaway is that many of these factors are actionable. Schools can improve attendance monitoring, expand tutoring opportunities, encourage stronger study habits, and provide additional support resources to students who may be struggling.</a:t>
            </a:r>
          </a:p>
          <a:p>
            <a:r>
              <a:rPr lang="en-US" dirty="0"/>
              <a:t>Overall, this analysis not only helped prepare the data for modeling but also provided valuable insights that educators can use to improve student outcomes.</a:t>
            </a:r>
          </a:p>
          <a:p>
            <a:r>
              <a:rPr lang="en-US" dirty="0"/>
              <a:t>With these relationships identified, the next step was preparing the data and selecting the appropriate features for machine learning.</a:t>
            </a:r>
          </a:p>
          <a:p>
            <a:endParaRPr lang="en-US" dirty="0"/>
          </a:p>
        </p:txBody>
      </p:sp>
      <p:sp>
        <p:nvSpPr>
          <p:cNvPr id="4" name="Slide Number Placeholder 3"/>
          <p:cNvSpPr>
            <a:spLocks noGrp="1"/>
          </p:cNvSpPr>
          <p:nvPr>
            <p:ph type="sldNum" sz="quarter" idx="5"/>
          </p:nvPr>
        </p:nvSpPr>
        <p:spPr/>
        <p:txBody>
          <a:bodyPr/>
          <a:lstStyle/>
          <a:p>
            <a:fld id="{FE401276-89C2-4189-B7FA-ED40FA8ADAC5}" type="slidenum">
              <a:rPr lang="en-US" smtClean="0"/>
              <a:t>4</a:t>
            </a:fld>
            <a:endParaRPr lang="en-US"/>
          </a:p>
        </p:txBody>
      </p:sp>
    </p:spTree>
    <p:extLst>
      <p:ext uri="{BB962C8B-B14F-4D97-AF65-F5344CB8AC3E}">
        <p14:creationId xmlns:p14="http://schemas.microsoft.com/office/powerpoint/2010/main" val="2119816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identifying the factors associated with academic risk, the next step was preparing the data for machine learning.</a:t>
            </a:r>
          </a:p>
          <a:p>
            <a:r>
              <a:rPr lang="en-US" dirty="0"/>
              <a:t>The dataset was already in very good condition, with no significant missing values, no duplicate records, and a clean structure. This allowed us to focus more on model development than data cleaning.</a:t>
            </a:r>
          </a:p>
          <a:p>
            <a:r>
              <a:rPr lang="en-US" dirty="0"/>
              <a:t>One of the most important steps was preventing data leakage. To ensure realistic predictions, we removed StudentID, GPA, </a:t>
            </a:r>
            <a:r>
              <a:rPr lang="en-US" dirty="0" err="1"/>
              <a:t>GradeClass</a:t>
            </a:r>
            <a:r>
              <a:rPr lang="en-US" dirty="0"/>
              <a:t>, and </a:t>
            </a:r>
            <a:r>
              <a:rPr lang="en-US" dirty="0" err="1"/>
              <a:t>GradeClassLabel</a:t>
            </a:r>
            <a:r>
              <a:rPr lang="en-US" dirty="0"/>
              <a:t> because they either provided no predictive value or were directly related to the final academic outcome.</a:t>
            </a:r>
          </a:p>
          <a:p>
            <a:r>
              <a:rPr lang="en-US" dirty="0"/>
              <a:t>Instead, we limited the model to information that schools would realistically have before final grades are assigned, such as attendance, study habits, parental support, and tutoring participation.</a:t>
            </a:r>
          </a:p>
          <a:p>
            <a:r>
              <a:rPr lang="en-US" dirty="0"/>
              <a:t>By removing these variables, we created a more reliable foundation for prediction. As shown in the workflow diagram, the data moved from raw inputs to cleaned features before entering the modeling phase.</a:t>
            </a:r>
          </a:p>
          <a:p>
            <a:r>
              <a:rPr lang="en-US" dirty="0"/>
              <a:t>With the data prepared and the final features selected, we were ready to evaluate several machine learning models and determine which approach performed best.</a:t>
            </a:r>
          </a:p>
        </p:txBody>
      </p:sp>
      <p:sp>
        <p:nvSpPr>
          <p:cNvPr id="4" name="Slide Number Placeholder 3"/>
          <p:cNvSpPr>
            <a:spLocks noGrp="1"/>
          </p:cNvSpPr>
          <p:nvPr>
            <p:ph type="sldNum" sz="quarter" idx="5"/>
          </p:nvPr>
        </p:nvSpPr>
        <p:spPr/>
        <p:txBody>
          <a:bodyPr/>
          <a:lstStyle/>
          <a:p>
            <a:fld id="{FE401276-89C2-4189-B7FA-ED40FA8ADAC5}" type="slidenum">
              <a:rPr lang="en-US" smtClean="0"/>
              <a:t>5</a:t>
            </a:fld>
            <a:endParaRPr lang="en-US"/>
          </a:p>
        </p:txBody>
      </p:sp>
    </p:spTree>
    <p:extLst>
      <p:ext uri="{BB962C8B-B14F-4D97-AF65-F5344CB8AC3E}">
        <p14:creationId xmlns:p14="http://schemas.microsoft.com/office/powerpoint/2010/main" val="1033194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preparing the data and selecting the final features, we moved into the modeling phase of the project.</a:t>
            </a:r>
          </a:p>
          <a:p>
            <a:r>
              <a:rPr lang="en-US" dirty="0"/>
              <a:t>Our goal was to determine which machine learning approach could most accurately identify students who were academically at risk.</a:t>
            </a:r>
          </a:p>
          <a:p>
            <a:r>
              <a:rPr lang="en-US" dirty="0"/>
              <a:t>To do this, we evaluated three models: Decision Tree, Random Forest, and XGBoost.</a:t>
            </a:r>
          </a:p>
          <a:p>
            <a:r>
              <a:rPr lang="en-US" dirty="0"/>
              <a:t>The Decision Tree served as our baseline model, while Random Forest and XGBoost represented more advanced ensemble approaches designed to improve predictive performance.</a:t>
            </a:r>
          </a:p>
          <a:p>
            <a:r>
              <a:rPr lang="en-US" dirty="0"/>
              <a:t>To ensure a fair comparison, we used an 80/20 train-test split along with five-fold stratified cross-validation.</a:t>
            </a:r>
          </a:p>
          <a:p>
            <a:r>
              <a:rPr lang="en-US" dirty="0"/>
              <a:t>We evaluated each model using multiple metrics, including accuracy, precision, recall, F1 score, and ROC-AUC, to gain a complete view of performance.</a:t>
            </a:r>
          </a:p>
          <a:p>
            <a:r>
              <a:rPr lang="en-US" dirty="0"/>
              <a:t>With this framework in place, we were ready to compare the models and identify the strongest candidate for deployment.</a:t>
            </a:r>
          </a:p>
        </p:txBody>
      </p:sp>
      <p:sp>
        <p:nvSpPr>
          <p:cNvPr id="4" name="Slide Number Placeholder 3"/>
          <p:cNvSpPr>
            <a:spLocks noGrp="1"/>
          </p:cNvSpPr>
          <p:nvPr>
            <p:ph type="sldNum" sz="quarter" idx="5"/>
          </p:nvPr>
        </p:nvSpPr>
        <p:spPr/>
        <p:txBody>
          <a:bodyPr/>
          <a:lstStyle/>
          <a:p>
            <a:fld id="{FE401276-89C2-4189-B7FA-ED40FA8ADAC5}" type="slidenum">
              <a:rPr lang="en-US" smtClean="0"/>
              <a:t>6</a:t>
            </a:fld>
            <a:endParaRPr lang="en-US"/>
          </a:p>
        </p:txBody>
      </p:sp>
    </p:spTree>
    <p:extLst>
      <p:ext uri="{BB962C8B-B14F-4D97-AF65-F5344CB8AC3E}">
        <p14:creationId xmlns:p14="http://schemas.microsoft.com/office/powerpoint/2010/main" val="1645313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training all three machine learning models, we compared their performance using both cross-validation and test results.</a:t>
            </a:r>
          </a:p>
          <a:p>
            <a:r>
              <a:rPr lang="en-US" dirty="0"/>
              <a:t>The table summarizes the key metrics for each model. In addition to accuracy, we evaluated recall, F1 score, and ROC-AUC to gain a more complete view of performance.</a:t>
            </a:r>
          </a:p>
          <a:p>
            <a:r>
              <a:rPr lang="en-US" dirty="0"/>
              <a:t>Recall was especially important because it measures how well the model identifies students who are actually at risk. Missing these students could mean missing opportunities for early intervention.</a:t>
            </a:r>
          </a:p>
          <a:p>
            <a:r>
              <a:rPr lang="en-US" dirty="0"/>
              <a:t>All three models performed well, showing that the dataset contained meaningful predictive patterns. However, Random Forest and XGBoost consistently outperformed the Decision Tree.</a:t>
            </a:r>
          </a:p>
          <a:p>
            <a:r>
              <a:rPr lang="en-US" dirty="0"/>
              <a:t>Among all models, XGBoost achieved the best overall results, including the highest recall, F1 score, and ROC-AUC values. It also maintained strong performance on unseen test data, indicating that it generalized well.</a:t>
            </a:r>
          </a:p>
          <a:p>
            <a:r>
              <a:rPr lang="en-US" dirty="0"/>
              <a:t>Based on these results, we selected XGBoost as our final model and explored whether further optimization could improve its performance even more.</a:t>
            </a:r>
          </a:p>
          <a:p>
            <a:r>
              <a:rPr lang="en-US" dirty="0"/>
              <a:t>Although XGBoost was already the top performer, we wanted to see if tuning its parameters could make it even more effective at identifying at-risk students. The next step was optimizing the model and evaluating its final performance.</a:t>
            </a:r>
          </a:p>
        </p:txBody>
      </p:sp>
      <p:sp>
        <p:nvSpPr>
          <p:cNvPr id="4" name="Slide Number Placeholder 3"/>
          <p:cNvSpPr>
            <a:spLocks noGrp="1"/>
          </p:cNvSpPr>
          <p:nvPr>
            <p:ph type="sldNum" sz="quarter" idx="5"/>
          </p:nvPr>
        </p:nvSpPr>
        <p:spPr/>
        <p:txBody>
          <a:bodyPr/>
          <a:lstStyle/>
          <a:p>
            <a:fld id="{FE401276-89C2-4189-B7FA-ED40FA8ADAC5}" type="slidenum">
              <a:rPr lang="en-US" smtClean="0"/>
              <a:t>7</a:t>
            </a:fld>
            <a:endParaRPr lang="en-US"/>
          </a:p>
        </p:txBody>
      </p:sp>
    </p:spTree>
    <p:extLst>
      <p:ext uri="{BB962C8B-B14F-4D97-AF65-F5344CB8AC3E}">
        <p14:creationId xmlns:p14="http://schemas.microsoft.com/office/powerpoint/2010/main" val="2222448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EBCE-98FA-1C76-7FDB-ECEB5D34E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07F2C7-7FAF-6847-9B90-B1C0EF61FA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216F7-BE29-63DF-035A-D8B203B2E5D4}"/>
              </a:ext>
            </a:extLst>
          </p:cNvPr>
          <p:cNvSpPr>
            <a:spLocks noGrp="1"/>
          </p:cNvSpPr>
          <p:nvPr>
            <p:ph type="body" idx="1"/>
          </p:nvPr>
        </p:nvSpPr>
        <p:spPr/>
        <p:txBody>
          <a:bodyPr/>
          <a:lstStyle/>
          <a:p>
            <a:r>
              <a:rPr lang="en-US" dirty="0"/>
              <a:t>After comparing all three machine learning models, XGBoost achieved the best overall results. However, before selecting it as our final model, we wanted to see if its performance could be improved through optimization.</a:t>
            </a:r>
          </a:p>
          <a:p>
            <a:r>
              <a:rPr lang="en-US" dirty="0"/>
              <a:t>We performed hyperparameter tuning combined with five-fold cross-validation to test different model settings and identify the most effective configuration.</a:t>
            </a:r>
          </a:p>
          <a:p>
            <a:r>
              <a:rPr lang="en-US" dirty="0"/>
              <a:t>The optimized XGBoost model achieved the strongest overall results, maintaining high accuracy while improving predictive reliability and recall. This was especially important because our goal was to identify as many at-risk students as possible.</a:t>
            </a:r>
          </a:p>
          <a:p>
            <a:r>
              <a:rPr lang="en-US" dirty="0"/>
              <a:t>We also confirmed that the model performed well on unseen data, showing that it learned meaningful patterns rather than simply memorizing the training set.</a:t>
            </a:r>
          </a:p>
          <a:p>
            <a:r>
              <a:rPr lang="en-US" dirty="0"/>
              <a:t>Based on these results, the optimized XGBoost model became our final recommended solution.</a:t>
            </a:r>
          </a:p>
          <a:p>
            <a:r>
              <a:rPr lang="en-US" dirty="0"/>
              <a:t>Now let's look at the final performance results and see how effectively the model identifies academically at-risk students.</a:t>
            </a:r>
          </a:p>
        </p:txBody>
      </p:sp>
      <p:sp>
        <p:nvSpPr>
          <p:cNvPr id="4" name="Slide Number Placeholder 3">
            <a:extLst>
              <a:ext uri="{FF2B5EF4-FFF2-40B4-BE49-F238E27FC236}">
                <a16:creationId xmlns:a16="http://schemas.microsoft.com/office/drawing/2014/main" id="{E88B1561-F7F7-2167-C9C6-D0F6AEFAAEF8}"/>
              </a:ext>
            </a:extLst>
          </p:cNvPr>
          <p:cNvSpPr>
            <a:spLocks noGrp="1"/>
          </p:cNvSpPr>
          <p:nvPr>
            <p:ph type="sldNum" sz="quarter" idx="5"/>
          </p:nvPr>
        </p:nvSpPr>
        <p:spPr/>
        <p:txBody>
          <a:bodyPr/>
          <a:lstStyle/>
          <a:p>
            <a:fld id="{FE401276-89C2-4189-B7FA-ED40FA8ADAC5}" type="slidenum">
              <a:rPr lang="en-US" smtClean="0"/>
              <a:t>8</a:t>
            </a:fld>
            <a:endParaRPr lang="en-US"/>
          </a:p>
        </p:txBody>
      </p:sp>
    </p:spTree>
    <p:extLst>
      <p:ext uri="{BB962C8B-B14F-4D97-AF65-F5344CB8AC3E}">
        <p14:creationId xmlns:p14="http://schemas.microsoft.com/office/powerpoint/2010/main" val="2293127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optimizing the XGBoost model, we evaluated its performance using a separate test dataset that the model had never seen before. This allowed us to assess how well it would perform on new student records in a real-world setting.</a:t>
            </a:r>
          </a:p>
          <a:p>
            <a:r>
              <a:rPr lang="en-US" dirty="0"/>
              <a:t>The results were very strong across all major evaluation metrics. The model achieved an accuracy of approximately 89 percent, meaning that nearly nine out of ten students were classified correctly. It also achieved a precision of about 89 percent, indicating that when the model predicts a student is at risk, it is usually correct.</a:t>
            </a:r>
          </a:p>
          <a:p>
            <a:r>
              <a:rPr lang="en-US" dirty="0"/>
              <a:t>However, the most important metric for this project is recall. Our optimized model achieved a recall of approximately 95 percent, meaning it successfully identified about 95 percent of students who were actually at risk. This is especially important because missing an at-risk student could delay intervention and support.</a:t>
            </a:r>
          </a:p>
          <a:p>
            <a:r>
              <a:rPr lang="en-US" dirty="0"/>
              <a:t>On the right side of the slide, the confusion matrix provides a detailed breakdown of the predictions. The model correctly identified 309 students who were truly at risk, while only 16 at-risk students were missed. This low number of missed students is one of the main reasons the model achieved such a high recall score.</a:t>
            </a:r>
          </a:p>
          <a:p>
            <a:r>
              <a:rPr lang="en-US" dirty="0"/>
              <a:t>Overall, these results show that the optimized XGBoost model is both accurate and highly effective at identifying students who may need academic support.</a:t>
            </a:r>
          </a:p>
          <a:p>
            <a:r>
              <a:rPr lang="en-US" dirty="0"/>
              <a:t>Understanding that the model performs well is only part of the story. It is equally important to understand which student characteristics contribute most strongly to academic risk. Let's look at the factors driving the model's predictions.</a:t>
            </a:r>
          </a:p>
        </p:txBody>
      </p:sp>
      <p:sp>
        <p:nvSpPr>
          <p:cNvPr id="4" name="Slide Number Placeholder 3"/>
          <p:cNvSpPr>
            <a:spLocks noGrp="1"/>
          </p:cNvSpPr>
          <p:nvPr>
            <p:ph type="sldNum" sz="quarter" idx="5"/>
          </p:nvPr>
        </p:nvSpPr>
        <p:spPr/>
        <p:txBody>
          <a:bodyPr/>
          <a:lstStyle/>
          <a:p>
            <a:fld id="{FE401276-89C2-4189-B7FA-ED40FA8ADAC5}" type="slidenum">
              <a:rPr lang="en-US" smtClean="0"/>
              <a:t>9</a:t>
            </a:fld>
            <a:endParaRPr lang="en-US"/>
          </a:p>
        </p:txBody>
      </p:sp>
    </p:spTree>
    <p:extLst>
      <p:ext uri="{BB962C8B-B14F-4D97-AF65-F5344CB8AC3E}">
        <p14:creationId xmlns:p14="http://schemas.microsoft.com/office/powerpoint/2010/main" val="3272274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CAD53-38D8-955F-F17C-07C8068686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4C3342-669C-B368-3FF8-3ED3C0A5BC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D7894-051A-457D-D9BD-F87C06192C68}"/>
              </a:ext>
            </a:extLst>
          </p:cNvPr>
          <p:cNvSpPr>
            <a:spLocks noGrp="1"/>
          </p:cNvSpPr>
          <p:nvPr>
            <p:ph type="body" idx="1"/>
          </p:nvPr>
        </p:nvSpPr>
        <p:spPr/>
        <p:txBody>
          <a:bodyPr/>
          <a:lstStyle/>
          <a:p>
            <a:r>
              <a:rPr lang="en-US" dirty="0"/>
              <a:t>Now that we've demonstrated the model's strong performance, the next question is: what factors are actually driving student risk?</a:t>
            </a:r>
          </a:p>
          <a:p>
            <a:r>
              <a:rPr lang="en-US" dirty="0"/>
              <a:t>One advantage of XGBoost is that it allows us to measure feature importance, helping us understand which variables have the greatest influence on the model's predictions.</a:t>
            </a:r>
          </a:p>
          <a:p>
            <a:r>
              <a:rPr lang="en-US" dirty="0"/>
              <a:t>As shown in the chart, the most important factor by a significant margin was student absences. This reinforces one of the key findings from our exploratory analysis: students who miss school more frequently are much more likely to experience academic difficulties.</a:t>
            </a:r>
          </a:p>
          <a:p>
            <a:r>
              <a:rPr lang="en-US" dirty="0"/>
              <a:t>Other important factors included tutoring participation, extracurricular involvement, parental support, and weekly study time. These findings are especially valuable because many of these factors are actionable. Schools can improve attendance monitoring, expand tutoring opportunities, encourage stronger study habits, and increase student engagement through targeted support programs.</a:t>
            </a:r>
          </a:p>
          <a:p>
            <a:r>
              <a:rPr lang="en-US" dirty="0"/>
              <a:t>Another notable finding is the importance of parental support, suggesting that family involvement continues to play a meaningful role in academic success.</a:t>
            </a:r>
          </a:p>
          <a:p>
            <a:r>
              <a:rPr lang="en-US" dirty="0"/>
              <a:t>Overall, this analysis moves the project beyond prediction alone. The model is not simply identifying which students may be at risk—it is helping us understand where schools can focus their resources to make the greatest impact.</a:t>
            </a:r>
          </a:p>
          <a:p>
            <a:r>
              <a:rPr lang="en-US" dirty="0"/>
              <a:t>The key takeaway is that attendance, study habits, engagement, and support systems are among the strongest predictors of student success and represent areas where meaningful interventions can be made.</a:t>
            </a:r>
          </a:p>
          <a:p>
            <a:r>
              <a:rPr lang="en-US" dirty="0"/>
              <a:t>While the model provides strong predictive performance and valuable insights, any real-world deployment must also consider ethical responsibilities, privacy concerns, and operational implementation. Let's look at those considerations next.</a:t>
            </a:r>
          </a:p>
          <a:p>
            <a:endParaRPr lang="en-US" dirty="0"/>
          </a:p>
        </p:txBody>
      </p:sp>
      <p:sp>
        <p:nvSpPr>
          <p:cNvPr id="4" name="Slide Number Placeholder 3">
            <a:extLst>
              <a:ext uri="{FF2B5EF4-FFF2-40B4-BE49-F238E27FC236}">
                <a16:creationId xmlns:a16="http://schemas.microsoft.com/office/drawing/2014/main" id="{A00EB853-FF25-8D5F-F1B0-436785F11BB7}"/>
              </a:ext>
            </a:extLst>
          </p:cNvPr>
          <p:cNvSpPr>
            <a:spLocks noGrp="1"/>
          </p:cNvSpPr>
          <p:nvPr>
            <p:ph type="sldNum" sz="quarter" idx="5"/>
          </p:nvPr>
        </p:nvSpPr>
        <p:spPr/>
        <p:txBody>
          <a:bodyPr/>
          <a:lstStyle/>
          <a:p>
            <a:fld id="{FE401276-89C2-4189-B7FA-ED40FA8ADAC5}" type="slidenum">
              <a:rPr lang="en-US" smtClean="0"/>
              <a:t>10</a:t>
            </a:fld>
            <a:endParaRPr lang="en-US"/>
          </a:p>
        </p:txBody>
      </p:sp>
    </p:spTree>
    <p:extLst>
      <p:ext uri="{BB962C8B-B14F-4D97-AF65-F5344CB8AC3E}">
        <p14:creationId xmlns:p14="http://schemas.microsoft.com/office/powerpoint/2010/main" val="3905172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move from model development to real-world implementation, it's important to recognize that successful deployment involves more than just strong predictive performance.</a:t>
            </a:r>
          </a:p>
          <a:p>
            <a:r>
              <a:rPr lang="en-US" dirty="0"/>
              <a:t>Any machine learning system used in education must be implemented responsibly, with careful attention to fairness, privacy, and operational considerations.</a:t>
            </a:r>
          </a:p>
          <a:p>
            <a:r>
              <a:rPr lang="en-US" dirty="0"/>
              <a:t>One potential concern is prediction bias. Because machine learning models learn from historical data, schools should regularly monitor performance across different student groups to ensure fair and equitable outcomes.</a:t>
            </a:r>
          </a:p>
          <a:p>
            <a:r>
              <a:rPr lang="en-US" dirty="0"/>
              <a:t>Another important consideration is data privacy. Student records often contain sensitive information, so access to predictions should be limited to authorized personnel and managed according to privacy regulations and institutional policies.</a:t>
            </a:r>
          </a:p>
          <a:p>
            <a:r>
              <a:rPr lang="en-US" dirty="0"/>
              <a:t>We must also avoid overreliance on automation. While the model can provide valuable insights, it should support—not replace—the judgment of educators, counselors, and administrators.</a:t>
            </a:r>
          </a:p>
          <a:p>
            <a:r>
              <a:rPr lang="en-US" dirty="0"/>
              <a:t>To address these concerns, we recommend regular model monitoring, strong data governance practices, and human review of all predictions before intervention decisions are made.</a:t>
            </a:r>
          </a:p>
          <a:p>
            <a:r>
              <a:rPr lang="en-US" dirty="0"/>
              <a:t>On the right side of the slide, you can see our recommended deployment process. Student data would be collected and processed on a weekly basis, the XGBoost model would generate risk scores, and the results would be displayed in a dashboard for counselors and administrators. These predictions could then be used to guide tutoring, attendance support, counseling, and other intervention efforts.</a:t>
            </a:r>
          </a:p>
          <a:p>
            <a:r>
              <a:rPr lang="en-US" dirty="0"/>
              <a:t>Our recommendation is not to replace educators with artificial intelligence, but to provide them with better information so they can make more informed decisions.</a:t>
            </a:r>
          </a:p>
          <a:p>
            <a:r>
              <a:rPr lang="en-US" dirty="0"/>
              <a:t>After evaluating the business problem, analyzing the data, developing multiple machine learning models, and considering deployment requirements, we can now summarize our final recommendation and conclusions.</a:t>
            </a:r>
          </a:p>
          <a:p>
            <a:endParaRPr lang="en-US" dirty="0"/>
          </a:p>
        </p:txBody>
      </p:sp>
      <p:sp>
        <p:nvSpPr>
          <p:cNvPr id="4" name="Slide Number Placeholder 3"/>
          <p:cNvSpPr>
            <a:spLocks noGrp="1"/>
          </p:cNvSpPr>
          <p:nvPr>
            <p:ph type="sldNum" sz="quarter" idx="5"/>
          </p:nvPr>
        </p:nvSpPr>
        <p:spPr/>
        <p:txBody>
          <a:bodyPr/>
          <a:lstStyle/>
          <a:p>
            <a:fld id="{FE401276-89C2-4189-B7FA-ED40FA8ADAC5}" type="slidenum">
              <a:rPr lang="en-US" smtClean="0"/>
              <a:t>11</a:t>
            </a:fld>
            <a:endParaRPr lang="en-US"/>
          </a:p>
        </p:txBody>
      </p:sp>
    </p:spTree>
    <p:extLst>
      <p:ext uri="{BB962C8B-B14F-4D97-AF65-F5344CB8AC3E}">
        <p14:creationId xmlns:p14="http://schemas.microsoft.com/office/powerpoint/2010/main" val="1824461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conclude our presentation, I'd like to summarize the key findings and recommendations from our project.</a:t>
            </a:r>
          </a:p>
          <a:p>
            <a:r>
              <a:rPr lang="en-US" dirty="0"/>
              <a:t>Our goal was to determine whether machine learning could be used to identify students who are academically at risk before poor outcomes occur. Based on our results, the answer is clearly yes.</a:t>
            </a:r>
          </a:p>
          <a:p>
            <a:r>
              <a:rPr lang="en-US" dirty="0"/>
              <a:t>We evaluated several machine learning models, including Decision Trees, Random Forest, and XGBoost. While all three performed well, XGBoost consistently delivered the strongest results. After optimization, the final model achieved approximately 89 percent accuracy and over 95 percent recall, meaning it successfully identified the vast majority of students who were actually at risk.</a:t>
            </a:r>
          </a:p>
          <a:p>
            <a:r>
              <a:rPr lang="en-US" dirty="0"/>
              <a:t>In addition to strong predictive performance, our analysis revealed several important factors associated with academic success. Attendance emerged as the most influential predictor, followed by tutoring participation, parental support, study habits, and student engagement.</a:t>
            </a:r>
          </a:p>
          <a:p>
            <a:r>
              <a:rPr lang="en-US" dirty="0"/>
              <a:t>Based on these findings, we recommend deploying the optimized XGBoost model as an early-warning system. Rather than waiting for grades to decline, schools could proactively identify students who may need support and intervene earlier through tutoring, counseling, attendance programs, and other targeted resources.</a:t>
            </a:r>
          </a:p>
          <a:p>
            <a:r>
              <a:rPr lang="en-US" dirty="0"/>
              <a:t>The expected benefits include earlier intervention, better resource allocation, improved student outcomes, and more data-driven decision-making.</a:t>
            </a:r>
          </a:p>
          <a:p>
            <a:r>
              <a:rPr lang="en-US" dirty="0"/>
              <a:t>It is important to emphasize that this system is not intended to replace educators. Instead, it is designed to provide teachers, counselors, and administrators with additional information to help them make more informed decisions and better support their students.</a:t>
            </a:r>
          </a:p>
          <a:p>
            <a:r>
              <a:rPr lang="en-US" dirty="0"/>
              <a:t>The greatest value of this project is not simply predicting who may struggle. It is giving educators the opportunity to help students before they struggle.</a:t>
            </a:r>
          </a:p>
          <a:p>
            <a:r>
              <a:rPr lang="en-US" dirty="0"/>
              <a:t>Thank you for your time and attention. </a:t>
            </a:r>
          </a:p>
        </p:txBody>
      </p:sp>
      <p:sp>
        <p:nvSpPr>
          <p:cNvPr id="4" name="Slide Number Placeholder 3"/>
          <p:cNvSpPr>
            <a:spLocks noGrp="1"/>
          </p:cNvSpPr>
          <p:nvPr>
            <p:ph type="sldNum" sz="quarter" idx="5"/>
          </p:nvPr>
        </p:nvSpPr>
        <p:spPr/>
        <p:txBody>
          <a:bodyPr/>
          <a:lstStyle/>
          <a:p>
            <a:fld id="{FE401276-89C2-4189-B7FA-ED40FA8ADAC5}" type="slidenum">
              <a:rPr lang="en-US" smtClean="0"/>
              <a:t>12</a:t>
            </a:fld>
            <a:endParaRPr lang="en-US"/>
          </a:p>
        </p:txBody>
      </p:sp>
    </p:spTree>
    <p:extLst>
      <p:ext uri="{BB962C8B-B14F-4D97-AF65-F5344CB8AC3E}">
        <p14:creationId xmlns:p14="http://schemas.microsoft.com/office/powerpoint/2010/main" val="4236506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07710-79F2-CB5F-F0C2-0A554DC9F7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3BE5DC-F591-0AC1-4C4C-0E2CBEF595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F0E692-7DBA-CDF9-8406-A0B1A14007C6}"/>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A486A811-7106-068A-0C19-5C08D6BE1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CCBA2-9D84-C2AE-514E-B8BBB07B8F75}"/>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35512365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616CE-87E0-7A94-0D0B-2E0E530783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56150-56BD-4F69-EE84-2E5A47B7D93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52C68-FF2B-F8B3-D005-E3E6ACDB901E}"/>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11EF6D63-7FC4-0F88-34B5-E25DBDFFC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971DF-D932-7819-FC23-3D16EC1EDBE9}"/>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334439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551B8-9A45-6115-483A-37E3D8BCD9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6BA8FE-54FA-763B-D847-665496FA98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90D0FA-B385-17EA-FBA5-83355A194C87}"/>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D21761D1-F7F0-BA4D-B749-245111D6F0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45E7B-4BB5-BEF0-6EB8-932F246D1611}"/>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2770316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8AC76-39FA-BA28-3103-005E439B4D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690A11-83EC-80D6-381C-263418CD6B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E32845-6465-D706-CF33-A9F711B3D7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A4AF3B-FC16-5E6F-8371-EC9D5D50FE7F}"/>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6" name="Footer Placeholder 5">
            <a:extLst>
              <a:ext uri="{FF2B5EF4-FFF2-40B4-BE49-F238E27FC236}">
                <a16:creationId xmlns:a16="http://schemas.microsoft.com/office/drawing/2014/main" id="{660A125A-642D-8006-F4F6-C639D861A1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384233-BA9C-391D-BE08-171BB743B379}"/>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2820123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05FC-521D-4640-963B-9150C23DD02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EBAD35-DFC6-54DE-E87A-D469CF237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4A5827-4EA4-FC59-1C2A-6D11C2546A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8ED6FE-4BF2-985E-1C02-C295B3DD54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B99512-BEFA-1AAB-4F7D-48A9319384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43535E-234D-DBF8-BB03-4A39784F2F47}"/>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8" name="Footer Placeholder 7">
            <a:extLst>
              <a:ext uri="{FF2B5EF4-FFF2-40B4-BE49-F238E27FC236}">
                <a16:creationId xmlns:a16="http://schemas.microsoft.com/office/drawing/2014/main" id="{B7A02AC9-C3A7-BA12-6C99-037CD5AE92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E01B086-40D7-AA46-D48F-A7C9CA316B0F}"/>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2127050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4821A-F4C2-B7B7-2433-642F8ED71F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D71D0-2410-E9AF-F0E6-7029B7E10864}"/>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4" name="Footer Placeholder 3">
            <a:extLst>
              <a:ext uri="{FF2B5EF4-FFF2-40B4-BE49-F238E27FC236}">
                <a16:creationId xmlns:a16="http://schemas.microsoft.com/office/drawing/2014/main" id="{9C9859D3-F9F4-9C9A-BEE9-76596DA9EA9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A6AD95-5A0E-06F7-772D-40D1DF3FCC26}"/>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1039964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1E5A0F-A543-B8FF-2257-92CD9B56448A}"/>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3" name="Footer Placeholder 2">
            <a:extLst>
              <a:ext uri="{FF2B5EF4-FFF2-40B4-BE49-F238E27FC236}">
                <a16:creationId xmlns:a16="http://schemas.microsoft.com/office/drawing/2014/main" id="{F5E2CCF4-4E87-BABA-2996-F63F0CCACA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BFCBA0-D269-755B-C64C-043B1377D36F}"/>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1631199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323C6-C362-76D3-43D6-5F1FD20EC8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489676-B510-67FA-5057-1531E8F844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77C8C42-1D9F-4638-75B3-B75E7D6614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4DB1F-8990-A6F5-9188-00A2647FA358}"/>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6" name="Footer Placeholder 5">
            <a:extLst>
              <a:ext uri="{FF2B5EF4-FFF2-40B4-BE49-F238E27FC236}">
                <a16:creationId xmlns:a16="http://schemas.microsoft.com/office/drawing/2014/main" id="{2BC0B687-9DD8-7273-728A-958DFC41C7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766CD-F942-701B-7715-13073A4FD41A}"/>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1733716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DA265-F090-ADA3-8319-053F6B3F5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6D2C7D-E694-F479-E7AD-D7AA3A9913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0FE6B7D-2A98-F99E-750B-AC9E69674D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A75579-099D-F1F1-986B-25F8D9F0D19C}"/>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6" name="Footer Placeholder 5">
            <a:extLst>
              <a:ext uri="{FF2B5EF4-FFF2-40B4-BE49-F238E27FC236}">
                <a16:creationId xmlns:a16="http://schemas.microsoft.com/office/drawing/2014/main" id="{0C09F814-A556-A002-500E-5E1C8651A8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03C4F3-FCD4-16AE-2302-0AEABD4A46EF}"/>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2916081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5A0AD-C9B6-B9A3-8321-5A93D4FE0E6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FFA7F8-0482-459B-D644-D2EF1BAA98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3493AE-8ADF-71C0-027B-D13C8E1FC658}"/>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389EE31A-0101-F9EC-F2FC-F9005EB5B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1EF38-D6E0-298D-4966-11968244B50F}"/>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1293238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FFE5AE-D3E1-EC64-8E6D-FFCCB9DCC7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7AB9A1-B2BB-DBE0-0E95-ED1532F0547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FF95DF-8DAC-167B-32F6-E422E3ADD9B9}"/>
              </a:ext>
            </a:extLst>
          </p:cNvPr>
          <p:cNvSpPr>
            <a:spLocks noGrp="1"/>
          </p:cNvSpPr>
          <p:nvPr>
            <p:ph type="dt" sz="half" idx="10"/>
          </p:nvPr>
        </p:nvSpPr>
        <p:spPr/>
        <p:txBody>
          <a:body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88C23219-A344-214F-BBFB-14CDA1C79F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F5693E-FB94-042A-30DA-EE931EA500C4}"/>
              </a:ext>
            </a:extLst>
          </p:cNvPr>
          <p:cNvSpPr>
            <a:spLocks noGrp="1"/>
          </p:cNvSpPr>
          <p:nvPr>
            <p:ph type="sldNum" sz="quarter" idx="12"/>
          </p:nvPr>
        </p:nvSpPr>
        <p:spPr/>
        <p:txBody>
          <a:bodyPr/>
          <a:lstStyle/>
          <a:p>
            <a:fld id="{8D4D8C61-651D-4845-87DB-157B128D4C94}" type="slidenum">
              <a:rPr lang="en-US" smtClean="0"/>
              <a:t>‹#›</a:t>
            </a:fld>
            <a:endParaRPr lang="en-US"/>
          </a:p>
        </p:txBody>
      </p:sp>
    </p:spTree>
    <p:extLst>
      <p:ext uri="{BB962C8B-B14F-4D97-AF65-F5344CB8AC3E}">
        <p14:creationId xmlns:p14="http://schemas.microsoft.com/office/powerpoint/2010/main" val="203353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E4B01-FAE9-3F1D-0D0B-FDBD7F9BE6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0F628D-AC10-F493-F986-2C268102A3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D6CE0-C21B-3F2A-BC0F-6221C908D7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07B19D-CF39-452C-894D-A9EA50E892E1}" type="datetimeFigureOut">
              <a:rPr lang="en-US" smtClean="0"/>
              <a:t>6/21/2026</a:t>
            </a:fld>
            <a:endParaRPr lang="en-US"/>
          </a:p>
        </p:txBody>
      </p:sp>
      <p:sp>
        <p:nvSpPr>
          <p:cNvPr id="5" name="Footer Placeholder 4">
            <a:extLst>
              <a:ext uri="{FF2B5EF4-FFF2-40B4-BE49-F238E27FC236}">
                <a16:creationId xmlns:a16="http://schemas.microsoft.com/office/drawing/2014/main" id="{52BA094D-AEB0-60C1-03C9-F2D393E5AB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2DF54C9-B103-20D6-A070-8631D4FECF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4D8C61-651D-4845-87DB-157B128D4C94}" type="slidenum">
              <a:rPr lang="en-US" smtClean="0"/>
              <a:t>‹#›</a:t>
            </a:fld>
            <a:endParaRPr lang="en-US"/>
          </a:p>
        </p:txBody>
      </p:sp>
    </p:spTree>
    <p:extLst>
      <p:ext uri="{BB962C8B-B14F-4D97-AF65-F5344CB8AC3E}">
        <p14:creationId xmlns:p14="http://schemas.microsoft.com/office/powerpoint/2010/main" val="1604795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image" Target="../media/image6.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6086E32F-B38A-05C6-7284-5B884E8D6308}"/>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rcRect t="2958" b="12788"/>
          <a:stretch>
            <a:fillRect/>
          </a:stretch>
        </p:blipFill>
        <p:spPr>
          <a:xfrm>
            <a:off x="20" y="1282"/>
            <a:ext cx="12191980" cy="6856718"/>
          </a:xfrm>
          <a:prstGeom prst="rect">
            <a:avLst/>
          </a:prstGeom>
        </p:spPr>
      </p:pic>
      <p:pic>
        <p:nvPicPr>
          <p:cNvPr id="5" name="Audio 4">
            <a:hlinkClick r:id="" action="ppaction://media"/>
            <a:extLst>
              <a:ext uri="{FF2B5EF4-FFF2-40B4-BE49-F238E27FC236}">
                <a16:creationId xmlns:a16="http://schemas.microsoft.com/office/drawing/2014/main" id="{9BB435FB-6251-C87B-6A8F-32169858972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32316069"/>
      </p:ext>
    </p:extLst>
  </p:cSld>
  <p:clrMapOvr>
    <a:masterClrMapping/>
  </p:clrMapOvr>
  <mc:AlternateContent xmlns:mc="http://schemas.openxmlformats.org/markup-compatibility/2006" xmlns:p14="http://schemas.microsoft.com/office/powerpoint/2010/main">
    <mc:Choice Requires="p14">
      <p:transition spd="slow" p14:dur="2000" advTm="1915"/>
    </mc:Choice>
    <mc:Fallback xmlns="">
      <p:transition spd="slow" advTm="19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A06EB-CE16-5F69-2357-E53E17604710}"/>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037B22D3-91A1-50A4-55AC-810A0F0A88C3}"/>
              </a:ext>
            </a:extLst>
          </p:cNvPr>
          <p:cNvSpPr txBox="1"/>
          <p:nvPr/>
        </p:nvSpPr>
        <p:spPr>
          <a:xfrm>
            <a:off x="4246294" y="229684"/>
            <a:ext cx="4300152" cy="523220"/>
          </a:xfrm>
          <a:prstGeom prst="rect">
            <a:avLst/>
          </a:prstGeom>
          <a:noFill/>
        </p:spPr>
        <p:txBody>
          <a:bodyPr wrap="none" rtlCol="0">
            <a:spAutoFit/>
          </a:bodyPr>
          <a:lstStyle/>
          <a:p>
            <a:r>
              <a:rPr lang="en-US" sz="2800" dirty="0">
                <a:latin typeface="Arial Black" panose="020B0A04020102020204" pitchFamily="34" charset="0"/>
              </a:rPr>
              <a:t>BUSINEES PROBLEM</a:t>
            </a:r>
          </a:p>
        </p:txBody>
      </p:sp>
      <p:sp>
        <p:nvSpPr>
          <p:cNvPr id="4" name="TextBox 3">
            <a:extLst>
              <a:ext uri="{FF2B5EF4-FFF2-40B4-BE49-F238E27FC236}">
                <a16:creationId xmlns:a16="http://schemas.microsoft.com/office/drawing/2014/main" id="{51DA0491-A10A-BD8C-6BBE-6E0792019AEC}"/>
              </a:ext>
            </a:extLst>
          </p:cNvPr>
          <p:cNvSpPr txBox="1"/>
          <p:nvPr/>
        </p:nvSpPr>
        <p:spPr>
          <a:xfrm>
            <a:off x="2990218" y="1770081"/>
            <a:ext cx="6511847" cy="3693319"/>
          </a:xfrm>
          <a:prstGeom prst="rect">
            <a:avLst/>
          </a:prstGeom>
          <a:noFill/>
        </p:spPr>
        <p:txBody>
          <a:bodyPr wrap="square" rtlCol="0">
            <a:spAutoFit/>
          </a:bodyPr>
          <a:lstStyle/>
          <a:p>
            <a:r>
              <a:rPr lang="en-US" b="1" dirty="0"/>
              <a:t>Challenges</a:t>
            </a:r>
          </a:p>
          <a:p>
            <a:r>
              <a:rPr lang="en-US" dirty="0"/>
              <a:t>Schools often identify struggling students only after academic performance has already declined.</a:t>
            </a:r>
          </a:p>
          <a:p>
            <a:endParaRPr lang="en-US" dirty="0"/>
          </a:p>
          <a:p>
            <a:r>
              <a:rPr lang="en-US" b="1" dirty="0"/>
              <a:t>Consequences</a:t>
            </a:r>
          </a:p>
          <a:p>
            <a:pPr marL="742950" lvl="1" indent="-285750">
              <a:buFont typeface="Wingdings" panose="05000000000000000000" pitchFamily="2" charset="2"/>
              <a:buChar char="Ø"/>
            </a:pPr>
            <a:r>
              <a:rPr lang="en-US" dirty="0"/>
              <a:t>Missed intervention opportunities </a:t>
            </a:r>
          </a:p>
          <a:p>
            <a:pPr marL="742950" lvl="1" indent="-285750">
              <a:buFont typeface="Wingdings" panose="05000000000000000000" pitchFamily="2" charset="2"/>
              <a:buChar char="Ø"/>
            </a:pPr>
            <a:r>
              <a:rPr lang="en-US" dirty="0"/>
              <a:t>Lower student success rates </a:t>
            </a:r>
          </a:p>
          <a:p>
            <a:pPr marL="742950" lvl="1" indent="-285750">
              <a:buFont typeface="Wingdings" panose="05000000000000000000" pitchFamily="2" charset="2"/>
              <a:buChar char="Ø"/>
            </a:pPr>
            <a:r>
              <a:rPr lang="en-US" dirty="0"/>
              <a:t>Inefficient allocation of support resources </a:t>
            </a:r>
          </a:p>
          <a:p>
            <a:pPr marL="742950" lvl="1" indent="-285750">
              <a:buFont typeface="Wingdings" panose="05000000000000000000" pitchFamily="2" charset="2"/>
              <a:buChar char="Ø"/>
            </a:pPr>
            <a:r>
              <a:rPr lang="en-US" dirty="0"/>
              <a:t>Increased risk of long-term academic failure</a:t>
            </a:r>
          </a:p>
          <a:p>
            <a:endParaRPr lang="en-US" b="1" dirty="0"/>
          </a:p>
          <a:p>
            <a:r>
              <a:rPr lang="en-US" b="1" dirty="0"/>
              <a:t>Goal</a:t>
            </a:r>
          </a:p>
          <a:p>
            <a:r>
              <a:rPr lang="en-US" dirty="0"/>
              <a:t>Develop a machine learning model that predicts which students are academically at risk so educators can intervene earlier.</a:t>
            </a:r>
          </a:p>
        </p:txBody>
      </p:sp>
      <p:pic>
        <p:nvPicPr>
          <p:cNvPr id="5" name="Audio 4">
            <a:hlinkClick r:id="" action="ppaction://media"/>
            <a:extLst>
              <a:ext uri="{FF2B5EF4-FFF2-40B4-BE49-F238E27FC236}">
                <a16:creationId xmlns:a16="http://schemas.microsoft.com/office/drawing/2014/main" id="{5555574C-E545-BB6E-172C-C40DCC1EDC6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07409300"/>
      </p:ext>
    </p:extLst>
  </p:cSld>
  <p:clrMapOvr>
    <a:masterClrMapping/>
  </p:clrMapOvr>
  <mc:AlternateContent xmlns:mc="http://schemas.openxmlformats.org/markup-compatibility/2006" xmlns:p14="http://schemas.microsoft.com/office/powerpoint/2010/main">
    <mc:Choice Requires="p14">
      <p:transition spd="slow" p14:dur="2000" advTm="891"/>
    </mc:Choice>
    <mc:Fallback xmlns="">
      <p:transition spd="slow" advTm="8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4AC63-1B29-EC0F-EF59-1E46B8ED83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788DB2-1BC5-BB6A-FD04-C1EBEBE524C4}"/>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9695DDDC-298C-1630-C913-EF52FDB98534}"/>
              </a:ext>
            </a:extLst>
          </p:cNvPr>
          <p:cNvSpPr txBox="1"/>
          <p:nvPr/>
        </p:nvSpPr>
        <p:spPr>
          <a:xfrm>
            <a:off x="4246294" y="229684"/>
            <a:ext cx="4248664" cy="523220"/>
          </a:xfrm>
          <a:prstGeom prst="rect">
            <a:avLst/>
          </a:prstGeom>
          <a:noFill/>
        </p:spPr>
        <p:txBody>
          <a:bodyPr wrap="none" rtlCol="0">
            <a:spAutoFit/>
          </a:bodyPr>
          <a:lstStyle/>
          <a:p>
            <a:r>
              <a:rPr lang="en-US" sz="2800" dirty="0">
                <a:latin typeface="Arial Black" panose="020B0A04020102020204" pitchFamily="34" charset="0"/>
              </a:rPr>
              <a:t>DATASET OVERVIEW</a:t>
            </a:r>
          </a:p>
        </p:txBody>
      </p:sp>
      <p:sp>
        <p:nvSpPr>
          <p:cNvPr id="7" name="TextBox 6">
            <a:extLst>
              <a:ext uri="{FF2B5EF4-FFF2-40B4-BE49-F238E27FC236}">
                <a16:creationId xmlns:a16="http://schemas.microsoft.com/office/drawing/2014/main" id="{2E7346D8-3AD3-A373-C009-5EEFD5A94A4F}"/>
              </a:ext>
            </a:extLst>
          </p:cNvPr>
          <p:cNvSpPr txBox="1"/>
          <p:nvPr/>
        </p:nvSpPr>
        <p:spPr>
          <a:xfrm>
            <a:off x="279191" y="1182254"/>
            <a:ext cx="6056604" cy="4247317"/>
          </a:xfrm>
          <a:prstGeom prst="rect">
            <a:avLst/>
          </a:prstGeom>
          <a:noFill/>
        </p:spPr>
        <p:txBody>
          <a:bodyPr wrap="square" rtlCol="0">
            <a:spAutoFit/>
          </a:bodyPr>
          <a:lstStyle/>
          <a:p>
            <a:r>
              <a:rPr lang="en-US" b="1" dirty="0"/>
              <a:t>Student Performance Dataset</a:t>
            </a:r>
          </a:p>
          <a:p>
            <a:pPr marL="742950" lvl="1" indent="-285750">
              <a:buFont typeface="Wingdings" panose="05000000000000000000" pitchFamily="2" charset="2"/>
              <a:buChar char="Ø"/>
            </a:pPr>
            <a:r>
              <a:rPr lang="en-US" dirty="0"/>
              <a:t>2,392 student records </a:t>
            </a:r>
          </a:p>
          <a:p>
            <a:pPr marL="742950" lvl="1" indent="-285750">
              <a:buFont typeface="Wingdings" panose="05000000000000000000" pitchFamily="2" charset="2"/>
              <a:buChar char="Ø"/>
            </a:pPr>
            <a:r>
              <a:rPr lang="en-US" dirty="0"/>
              <a:t>Academic and behavioral information</a:t>
            </a:r>
          </a:p>
          <a:p>
            <a:pPr marL="742950" lvl="1" indent="-285750">
              <a:buFont typeface="Wingdings" panose="05000000000000000000" pitchFamily="2" charset="2"/>
              <a:buChar char="Ø"/>
            </a:pPr>
            <a:r>
              <a:rPr lang="en-US" dirty="0"/>
              <a:t>Demographic and support-related factors</a:t>
            </a:r>
          </a:p>
          <a:p>
            <a:endParaRPr lang="en-US" b="1" dirty="0"/>
          </a:p>
          <a:p>
            <a:r>
              <a:rPr lang="en-US" b="1" dirty="0"/>
              <a:t>Examples of Features</a:t>
            </a:r>
          </a:p>
          <a:p>
            <a:pPr marL="742950" lvl="1" indent="-285750">
              <a:buFont typeface="Wingdings" panose="05000000000000000000" pitchFamily="2" charset="2"/>
              <a:buChar char="q"/>
            </a:pPr>
            <a:r>
              <a:rPr lang="en-US" dirty="0"/>
              <a:t>Attendance </a:t>
            </a:r>
          </a:p>
          <a:p>
            <a:pPr marL="742950" lvl="1" indent="-285750">
              <a:buFont typeface="Wingdings" panose="05000000000000000000" pitchFamily="2" charset="2"/>
              <a:buChar char="q"/>
            </a:pPr>
            <a:r>
              <a:rPr lang="en-US" dirty="0"/>
              <a:t>Study Time </a:t>
            </a:r>
          </a:p>
          <a:p>
            <a:pPr marL="742950" lvl="1" indent="-285750">
              <a:buFont typeface="Wingdings" panose="05000000000000000000" pitchFamily="2" charset="2"/>
              <a:buChar char="q"/>
            </a:pPr>
            <a:r>
              <a:rPr lang="en-US" dirty="0"/>
              <a:t>Tutoring </a:t>
            </a:r>
          </a:p>
          <a:p>
            <a:pPr marL="742950" lvl="1" indent="-285750">
              <a:buFont typeface="Wingdings" panose="05000000000000000000" pitchFamily="2" charset="2"/>
              <a:buChar char="q"/>
            </a:pPr>
            <a:r>
              <a:rPr lang="en-US" dirty="0"/>
              <a:t>Parental Support </a:t>
            </a:r>
          </a:p>
          <a:p>
            <a:pPr marL="742950" lvl="1" indent="-285750">
              <a:buFont typeface="Wingdings" panose="05000000000000000000" pitchFamily="2" charset="2"/>
              <a:buChar char="q"/>
            </a:pPr>
            <a:r>
              <a:rPr lang="en-US" dirty="0"/>
              <a:t>Extracurricular Activities </a:t>
            </a:r>
          </a:p>
          <a:p>
            <a:endParaRPr lang="en-US" dirty="0"/>
          </a:p>
          <a:p>
            <a:r>
              <a:rPr lang="en-US" b="1" dirty="0"/>
              <a:t>Business Outcome</a:t>
            </a:r>
          </a:p>
          <a:p>
            <a:r>
              <a:rPr lang="en-US" dirty="0"/>
              <a:t>Predict whether a student is academically at risk.</a:t>
            </a:r>
          </a:p>
          <a:p>
            <a:endParaRPr lang="en-US" dirty="0"/>
          </a:p>
        </p:txBody>
      </p:sp>
      <p:pic>
        <p:nvPicPr>
          <p:cNvPr id="9" name="Picture 8">
            <a:extLst>
              <a:ext uri="{FF2B5EF4-FFF2-40B4-BE49-F238E27FC236}">
                <a16:creationId xmlns:a16="http://schemas.microsoft.com/office/drawing/2014/main" id="{A95ACCB7-7CFE-6860-28A3-F067A3F348A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1720" y="1182254"/>
            <a:ext cx="5800280" cy="4373418"/>
          </a:xfrm>
          <a:prstGeom prst="rect">
            <a:avLst/>
          </a:prstGeom>
        </p:spPr>
      </p:pic>
      <p:sp>
        <p:nvSpPr>
          <p:cNvPr id="10" name="Footer Placeholder 9">
            <a:extLst>
              <a:ext uri="{FF2B5EF4-FFF2-40B4-BE49-F238E27FC236}">
                <a16:creationId xmlns:a16="http://schemas.microsoft.com/office/drawing/2014/main" id="{D405880C-DFFF-D86F-D623-8D52A5789467}"/>
              </a:ext>
            </a:extLst>
          </p:cNvPr>
          <p:cNvSpPr>
            <a:spLocks noGrp="1"/>
          </p:cNvSpPr>
          <p:nvPr>
            <p:ph type="ftr" sz="quarter" idx="11"/>
          </p:nvPr>
        </p:nvSpPr>
        <p:spPr>
          <a:xfrm>
            <a:off x="6248761" y="5554136"/>
            <a:ext cx="2067512" cy="243220"/>
          </a:xfrm>
        </p:spPr>
        <p:txBody>
          <a:bodyPr/>
          <a:lstStyle/>
          <a:p>
            <a:r>
              <a:rPr lang="en-US" dirty="0"/>
              <a:t>source: Notebook-Step7.1</a:t>
            </a:r>
          </a:p>
        </p:txBody>
      </p:sp>
      <p:pic>
        <p:nvPicPr>
          <p:cNvPr id="5" name="Audio 4">
            <a:hlinkClick r:id="" action="ppaction://media"/>
            <a:extLst>
              <a:ext uri="{FF2B5EF4-FFF2-40B4-BE49-F238E27FC236}">
                <a16:creationId xmlns:a16="http://schemas.microsoft.com/office/drawing/2014/main" id="{206124E4-5EB6-1FF9-363A-0CE59FC3DC20}"/>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73780409"/>
      </p:ext>
    </p:extLst>
  </p:cSld>
  <p:clrMapOvr>
    <a:masterClrMapping/>
  </p:clrMapOvr>
  <mc:AlternateContent xmlns:mc="http://schemas.openxmlformats.org/markup-compatibility/2006" xmlns:p14="http://schemas.microsoft.com/office/powerpoint/2010/main">
    <mc:Choice Requires="p14">
      <p:transition spd="slow" p14:dur="2000" advTm="1193"/>
    </mc:Choice>
    <mc:Fallback xmlns="">
      <p:transition spd="slow" advTm="11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7E08B-36CC-8E8E-29A2-0527F2164AB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40EDB4-F338-C10A-F148-6667D4597439}"/>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2" name="TextBox 1">
            <a:extLst>
              <a:ext uri="{FF2B5EF4-FFF2-40B4-BE49-F238E27FC236}">
                <a16:creationId xmlns:a16="http://schemas.microsoft.com/office/drawing/2014/main" id="{225FC44C-4CE5-795F-B8B1-9C1455E1AAF1}"/>
              </a:ext>
            </a:extLst>
          </p:cNvPr>
          <p:cNvSpPr txBox="1"/>
          <p:nvPr/>
        </p:nvSpPr>
        <p:spPr>
          <a:xfrm>
            <a:off x="1971997" y="251352"/>
            <a:ext cx="8320740" cy="523220"/>
          </a:xfrm>
          <a:prstGeom prst="rect">
            <a:avLst/>
          </a:prstGeom>
          <a:noFill/>
        </p:spPr>
        <p:txBody>
          <a:bodyPr wrap="none" rtlCol="0">
            <a:spAutoFit/>
          </a:bodyPr>
          <a:lstStyle/>
          <a:p>
            <a:pPr algn="ctr"/>
            <a:r>
              <a:rPr lang="en-US" sz="2800" dirty="0">
                <a:latin typeface="Arial Black" panose="020B0A04020102020204" pitchFamily="34" charset="0"/>
              </a:rPr>
              <a:t>DATA UNDERSTANDING &amp; KEY INSIGHTS</a:t>
            </a:r>
          </a:p>
        </p:txBody>
      </p:sp>
      <p:sp>
        <p:nvSpPr>
          <p:cNvPr id="5" name="TextBox 4">
            <a:extLst>
              <a:ext uri="{FF2B5EF4-FFF2-40B4-BE49-F238E27FC236}">
                <a16:creationId xmlns:a16="http://schemas.microsoft.com/office/drawing/2014/main" id="{268EC1F2-C052-CA9F-614A-5B58B894BAE5}"/>
              </a:ext>
            </a:extLst>
          </p:cNvPr>
          <p:cNvSpPr txBox="1"/>
          <p:nvPr/>
        </p:nvSpPr>
        <p:spPr>
          <a:xfrm>
            <a:off x="1" y="1424676"/>
            <a:ext cx="4320648" cy="3662541"/>
          </a:xfrm>
          <a:prstGeom prst="rect">
            <a:avLst/>
          </a:prstGeom>
          <a:noFill/>
        </p:spPr>
        <p:txBody>
          <a:bodyPr wrap="square" rtlCol="0">
            <a:spAutoFit/>
          </a:bodyPr>
          <a:lstStyle/>
          <a:p>
            <a:r>
              <a:rPr lang="en-US" b="1" dirty="0"/>
              <a:t>Key Findings From Exploratory Analysis</a:t>
            </a:r>
          </a:p>
          <a:p>
            <a:endParaRPr lang="en-US" b="1" dirty="0"/>
          </a:p>
          <a:p>
            <a:r>
              <a:rPr lang="en-US" sz="1600" b="1" dirty="0"/>
              <a:t>Students At Risk Tend To</a:t>
            </a:r>
          </a:p>
          <a:p>
            <a:pPr marL="742950" lvl="1" indent="-285750">
              <a:buFont typeface="Wingdings" panose="05000000000000000000" pitchFamily="2" charset="2"/>
              <a:buChar char="q"/>
            </a:pPr>
            <a:r>
              <a:rPr lang="en-US" dirty="0"/>
              <a:t>Miss more classes</a:t>
            </a:r>
          </a:p>
          <a:p>
            <a:pPr marL="742950" lvl="1" indent="-285750">
              <a:buFont typeface="Wingdings" panose="05000000000000000000" pitchFamily="2" charset="2"/>
              <a:buChar char="q"/>
            </a:pPr>
            <a:r>
              <a:rPr lang="en-US" dirty="0"/>
              <a:t>Study fewer hours</a:t>
            </a:r>
          </a:p>
          <a:p>
            <a:pPr marL="742950" lvl="1" indent="-285750">
              <a:buFont typeface="Wingdings" panose="05000000000000000000" pitchFamily="2" charset="2"/>
              <a:buChar char="q"/>
            </a:pPr>
            <a:r>
              <a:rPr lang="en-US" dirty="0"/>
              <a:t>Receive less parental support</a:t>
            </a:r>
          </a:p>
          <a:p>
            <a:pPr marL="742950" lvl="1" indent="-285750">
              <a:buFont typeface="Wingdings" panose="05000000000000000000" pitchFamily="2" charset="2"/>
              <a:buChar char="q"/>
            </a:pPr>
            <a:r>
              <a:rPr lang="en-US" dirty="0"/>
              <a:t>Participate in fewer academic support activities</a:t>
            </a:r>
          </a:p>
          <a:p>
            <a:pPr marL="285750" indent="-285750">
              <a:buFont typeface="Wingdings" panose="05000000000000000000" pitchFamily="2" charset="2"/>
              <a:buChar char="ü"/>
            </a:pPr>
            <a:endParaRPr lang="en-US" dirty="0"/>
          </a:p>
          <a:p>
            <a:r>
              <a:rPr lang="en-US" b="1" dirty="0"/>
              <a:t>Most Important Observation</a:t>
            </a:r>
          </a:p>
          <a:p>
            <a:r>
              <a:rPr lang="en-US" dirty="0"/>
              <a:t>Attendance and study behavior consistently showed strong relationships with academic performance.</a:t>
            </a:r>
          </a:p>
        </p:txBody>
      </p:sp>
      <p:pic>
        <p:nvPicPr>
          <p:cNvPr id="7" name="Picture 6">
            <a:extLst>
              <a:ext uri="{FF2B5EF4-FFF2-40B4-BE49-F238E27FC236}">
                <a16:creationId xmlns:a16="http://schemas.microsoft.com/office/drawing/2014/main" id="{2DC9E2DF-E636-6F4F-0880-C8F16013C5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8840" y="1962486"/>
            <a:ext cx="3930466" cy="2706965"/>
          </a:xfrm>
          <a:prstGeom prst="rect">
            <a:avLst/>
          </a:prstGeom>
        </p:spPr>
      </p:pic>
      <p:pic>
        <p:nvPicPr>
          <p:cNvPr id="9" name="Picture 8">
            <a:extLst>
              <a:ext uri="{FF2B5EF4-FFF2-40B4-BE49-F238E27FC236}">
                <a16:creationId xmlns:a16="http://schemas.microsoft.com/office/drawing/2014/main" id="{1BCA3514-D3A0-B540-91B3-128C7C810F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00420" y="1962486"/>
            <a:ext cx="3930466" cy="2679233"/>
          </a:xfrm>
          <a:prstGeom prst="rect">
            <a:avLst/>
          </a:prstGeom>
        </p:spPr>
      </p:pic>
      <p:sp>
        <p:nvSpPr>
          <p:cNvPr id="12" name="Footer Placeholder 11">
            <a:extLst>
              <a:ext uri="{FF2B5EF4-FFF2-40B4-BE49-F238E27FC236}">
                <a16:creationId xmlns:a16="http://schemas.microsoft.com/office/drawing/2014/main" id="{62E2525D-9235-2521-FFED-EE11FCB33424}"/>
              </a:ext>
            </a:extLst>
          </p:cNvPr>
          <p:cNvSpPr>
            <a:spLocks noGrp="1"/>
          </p:cNvSpPr>
          <p:nvPr>
            <p:ph type="ftr" sz="quarter" idx="11"/>
          </p:nvPr>
        </p:nvSpPr>
        <p:spPr>
          <a:xfrm>
            <a:off x="6972841" y="6359004"/>
            <a:ext cx="2158158" cy="247644"/>
          </a:xfrm>
        </p:spPr>
        <p:txBody>
          <a:bodyPr/>
          <a:lstStyle/>
          <a:p>
            <a:r>
              <a:rPr lang="en-US" dirty="0"/>
              <a:t>source: Notebook-Step7.2</a:t>
            </a:r>
          </a:p>
        </p:txBody>
      </p:sp>
      <p:pic>
        <p:nvPicPr>
          <p:cNvPr id="8" name="Audio 7">
            <a:hlinkClick r:id="" action="ppaction://media"/>
            <a:extLst>
              <a:ext uri="{FF2B5EF4-FFF2-40B4-BE49-F238E27FC236}">
                <a16:creationId xmlns:a16="http://schemas.microsoft.com/office/drawing/2014/main" id="{D2D29094-FBDA-E591-B89B-7EF3FFE0DF74}"/>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308716980"/>
      </p:ext>
    </p:extLst>
  </p:cSld>
  <p:clrMapOvr>
    <a:masterClrMapping/>
  </p:clrMapOvr>
  <mc:AlternateContent xmlns:mc="http://schemas.openxmlformats.org/markup-compatibility/2006" xmlns:p14="http://schemas.microsoft.com/office/powerpoint/2010/main">
    <mc:Choice Requires="p14">
      <p:transition spd="slow" p14:dur="2000" advTm="1168"/>
    </mc:Choice>
    <mc:Fallback xmlns="">
      <p:transition spd="slow" advTm="11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3E98B-C627-9724-AECF-39B62D9CF95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979C52E-826F-452C-E1FF-E688484152AF}"/>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EACF4ED-B8BA-C348-4A30-62AEBA4C0145}"/>
              </a:ext>
            </a:extLst>
          </p:cNvPr>
          <p:cNvSpPr txBox="1"/>
          <p:nvPr/>
        </p:nvSpPr>
        <p:spPr>
          <a:xfrm>
            <a:off x="1595569" y="229683"/>
            <a:ext cx="9000862" cy="523220"/>
          </a:xfrm>
          <a:prstGeom prst="rect">
            <a:avLst/>
          </a:prstGeom>
          <a:noFill/>
        </p:spPr>
        <p:txBody>
          <a:bodyPr wrap="none" rtlCol="0">
            <a:spAutoFit/>
          </a:bodyPr>
          <a:lstStyle/>
          <a:p>
            <a:r>
              <a:rPr lang="en-US" sz="2800" dirty="0">
                <a:latin typeface="Arial Black" panose="020B0A04020102020204" pitchFamily="34" charset="0"/>
              </a:rPr>
              <a:t>DATA PREPARATION &amp; FEATURE SELECTION</a:t>
            </a:r>
          </a:p>
        </p:txBody>
      </p:sp>
      <p:sp>
        <p:nvSpPr>
          <p:cNvPr id="5" name="TextBox 4">
            <a:extLst>
              <a:ext uri="{FF2B5EF4-FFF2-40B4-BE49-F238E27FC236}">
                <a16:creationId xmlns:a16="http://schemas.microsoft.com/office/drawing/2014/main" id="{16717E38-9992-8402-B6B3-A6969DD75D12}"/>
              </a:ext>
            </a:extLst>
          </p:cNvPr>
          <p:cNvSpPr txBox="1"/>
          <p:nvPr/>
        </p:nvSpPr>
        <p:spPr>
          <a:xfrm>
            <a:off x="73672" y="919646"/>
            <a:ext cx="7250195" cy="5632311"/>
          </a:xfrm>
          <a:prstGeom prst="rect">
            <a:avLst/>
          </a:prstGeom>
          <a:noFill/>
        </p:spPr>
        <p:txBody>
          <a:bodyPr wrap="square" rtlCol="0">
            <a:spAutoFit/>
          </a:bodyPr>
          <a:lstStyle/>
          <a:p>
            <a:r>
              <a:rPr lang="en-US" b="1" dirty="0"/>
              <a:t>Preparing Data for Machine Learning</a:t>
            </a:r>
          </a:p>
          <a:p>
            <a:endParaRPr lang="en-US" b="1" dirty="0"/>
          </a:p>
          <a:p>
            <a:r>
              <a:rPr lang="en-US" b="1" dirty="0"/>
              <a:t>Data Quality</a:t>
            </a:r>
          </a:p>
          <a:p>
            <a:pPr marL="742950" lvl="1" indent="-285750">
              <a:buFont typeface="Wingdings" panose="05000000000000000000" pitchFamily="2" charset="2"/>
              <a:buChar char="Ø"/>
            </a:pPr>
            <a:r>
              <a:rPr lang="en-US" dirty="0"/>
              <a:t>No significant missing values</a:t>
            </a:r>
          </a:p>
          <a:p>
            <a:pPr marL="742950" lvl="1" indent="-285750">
              <a:buFont typeface="Wingdings" panose="05000000000000000000" pitchFamily="2" charset="2"/>
              <a:buChar char="Ø"/>
            </a:pPr>
            <a:r>
              <a:rPr lang="en-US" dirty="0"/>
              <a:t>No duplicate records</a:t>
            </a:r>
          </a:p>
          <a:p>
            <a:pPr marL="742950" lvl="1" indent="-285750">
              <a:buFont typeface="Wingdings" panose="05000000000000000000" pitchFamily="2" charset="2"/>
              <a:buChar char="Ø"/>
            </a:pPr>
            <a:r>
              <a:rPr lang="en-US" dirty="0"/>
              <a:t>Clean dataset structure</a:t>
            </a:r>
          </a:p>
          <a:p>
            <a:pPr marL="742950" lvl="1" indent="-285750">
              <a:buFont typeface="Wingdings" panose="05000000000000000000" pitchFamily="2" charset="2"/>
              <a:buChar char="Ø"/>
            </a:pPr>
            <a:endParaRPr lang="en-US" dirty="0"/>
          </a:p>
          <a:p>
            <a:r>
              <a:rPr lang="en-US" b="1" dirty="0"/>
              <a:t>Removed Features</a:t>
            </a:r>
          </a:p>
          <a:p>
            <a:pPr marL="742950" lvl="1" indent="-285750">
              <a:buFont typeface="Wingdings" panose="05000000000000000000" pitchFamily="2" charset="2"/>
              <a:buChar char="q"/>
            </a:pPr>
            <a:r>
              <a:rPr lang="en-US" dirty="0"/>
              <a:t>StudentID </a:t>
            </a:r>
          </a:p>
          <a:p>
            <a:pPr marL="742950" lvl="1" indent="-285750">
              <a:buFont typeface="Wingdings" panose="05000000000000000000" pitchFamily="2" charset="2"/>
              <a:buChar char="q"/>
            </a:pPr>
            <a:r>
              <a:rPr lang="en-US" dirty="0"/>
              <a:t>GPA </a:t>
            </a:r>
          </a:p>
          <a:p>
            <a:pPr marL="742950" lvl="1" indent="-285750">
              <a:buFont typeface="Wingdings" panose="05000000000000000000" pitchFamily="2" charset="2"/>
              <a:buChar char="q"/>
            </a:pPr>
            <a:r>
              <a:rPr lang="en-US" dirty="0" err="1"/>
              <a:t>GradeClass</a:t>
            </a:r>
            <a:r>
              <a:rPr lang="en-US" dirty="0"/>
              <a:t> </a:t>
            </a:r>
          </a:p>
          <a:p>
            <a:pPr marL="742950" lvl="1" indent="-285750">
              <a:buFont typeface="Wingdings" panose="05000000000000000000" pitchFamily="2" charset="2"/>
              <a:buChar char="q"/>
            </a:pPr>
            <a:r>
              <a:rPr lang="en-US" dirty="0" err="1"/>
              <a:t>GradeClassLabel</a:t>
            </a:r>
            <a:endParaRPr lang="en-US" dirty="0"/>
          </a:p>
          <a:p>
            <a:endParaRPr lang="en-US" dirty="0"/>
          </a:p>
          <a:p>
            <a:r>
              <a:rPr lang="en-US" b="1" dirty="0"/>
              <a:t>Why?</a:t>
            </a:r>
          </a:p>
          <a:p>
            <a:r>
              <a:rPr lang="en-US" dirty="0"/>
              <a:t>Prevent data leakage and ensure realistic predictions.</a:t>
            </a:r>
          </a:p>
          <a:p>
            <a:endParaRPr lang="en-US" b="1" dirty="0"/>
          </a:p>
          <a:p>
            <a:r>
              <a:rPr lang="en-US" b="1" dirty="0"/>
              <a:t>Final Dataset</a:t>
            </a:r>
          </a:p>
          <a:p>
            <a:r>
              <a:rPr lang="en-US" dirty="0"/>
              <a:t>Focused on information available before final academic outcomes occur.</a:t>
            </a:r>
          </a:p>
          <a:p>
            <a:endParaRPr lang="en-US" dirty="0"/>
          </a:p>
        </p:txBody>
      </p:sp>
      <p:pic>
        <p:nvPicPr>
          <p:cNvPr id="9" name="Picture 8">
            <a:extLst>
              <a:ext uri="{FF2B5EF4-FFF2-40B4-BE49-F238E27FC236}">
                <a16:creationId xmlns:a16="http://schemas.microsoft.com/office/drawing/2014/main" id="{B86F50C5-ED13-A3CE-2C25-11F4DA1088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13019" y="1087793"/>
            <a:ext cx="3339232" cy="4214218"/>
          </a:xfrm>
          <a:prstGeom prst="rect">
            <a:avLst/>
          </a:prstGeom>
        </p:spPr>
      </p:pic>
      <p:pic>
        <p:nvPicPr>
          <p:cNvPr id="16" name="Audio 15">
            <a:hlinkClick r:id="" action="ppaction://media"/>
            <a:extLst>
              <a:ext uri="{FF2B5EF4-FFF2-40B4-BE49-F238E27FC236}">
                <a16:creationId xmlns:a16="http://schemas.microsoft.com/office/drawing/2014/main" id="{35C44940-65DC-158D-2E0F-6A8F843F7D06}"/>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0" t="-245890" r="-245890" b="-24589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23338644"/>
      </p:ext>
    </p:extLst>
  </p:cSld>
  <p:clrMapOvr>
    <a:masterClrMapping/>
  </p:clrMapOvr>
  <mc:AlternateContent xmlns:mc="http://schemas.openxmlformats.org/markup-compatibility/2006" xmlns:p14="http://schemas.microsoft.com/office/powerpoint/2010/main">
    <mc:Choice Requires="p14">
      <p:transition spd="slow" p14:dur="2000" advTm="86516"/>
    </mc:Choice>
    <mc:Fallback xmlns="">
      <p:transition spd="slow" advTm="865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F2D0-D0DE-6227-B104-6B441D7ECEA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07EA275-A336-2C56-082D-8BCA1ACBEA3E}"/>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43337"/>
            <a:ext cx="12192000" cy="6858000"/>
          </a:xfrm>
          <a:prstGeom prst="rect">
            <a:avLst/>
          </a:prstGeom>
        </p:spPr>
      </p:pic>
      <p:sp>
        <p:nvSpPr>
          <p:cNvPr id="2" name="TextBox 1">
            <a:extLst>
              <a:ext uri="{FF2B5EF4-FFF2-40B4-BE49-F238E27FC236}">
                <a16:creationId xmlns:a16="http://schemas.microsoft.com/office/drawing/2014/main" id="{1219158A-E229-AB3D-0368-05A8D84F25D3}"/>
              </a:ext>
            </a:extLst>
          </p:cNvPr>
          <p:cNvSpPr txBox="1"/>
          <p:nvPr/>
        </p:nvSpPr>
        <p:spPr>
          <a:xfrm>
            <a:off x="1810788" y="169012"/>
            <a:ext cx="8570423" cy="523220"/>
          </a:xfrm>
          <a:prstGeom prst="rect">
            <a:avLst/>
          </a:prstGeom>
          <a:noFill/>
        </p:spPr>
        <p:txBody>
          <a:bodyPr wrap="none" rtlCol="0">
            <a:spAutoFit/>
          </a:bodyPr>
          <a:lstStyle/>
          <a:p>
            <a:r>
              <a:rPr lang="en-US" sz="2800" dirty="0">
                <a:latin typeface="Arial Black" panose="020B0A04020102020204" pitchFamily="34" charset="0"/>
              </a:rPr>
              <a:t>MACHINE LEARNING MODELS EVALUATED</a:t>
            </a:r>
          </a:p>
        </p:txBody>
      </p:sp>
      <p:pic>
        <p:nvPicPr>
          <p:cNvPr id="13" name="Picture 12">
            <a:extLst>
              <a:ext uri="{FF2B5EF4-FFF2-40B4-BE49-F238E27FC236}">
                <a16:creationId xmlns:a16="http://schemas.microsoft.com/office/drawing/2014/main" id="{69E00003-8971-0CBC-40CD-F06153B917FA}"/>
              </a:ext>
            </a:extLst>
          </p:cNvPr>
          <p:cNvPicPr>
            <a:picLocks noChangeAspect="1"/>
          </p:cNvPicPr>
          <p:nvPr/>
        </p:nvPicPr>
        <p:blipFill>
          <a:blip r:embed="rId6"/>
          <a:stretch>
            <a:fillRect/>
          </a:stretch>
        </p:blipFill>
        <p:spPr>
          <a:xfrm>
            <a:off x="1676399" y="1117842"/>
            <a:ext cx="8825345" cy="4629584"/>
          </a:xfrm>
          <a:prstGeom prst="rect">
            <a:avLst/>
          </a:prstGeom>
        </p:spPr>
      </p:pic>
      <p:pic>
        <p:nvPicPr>
          <p:cNvPr id="6" name="Audio 5">
            <a:hlinkClick r:id="" action="ppaction://media"/>
            <a:extLst>
              <a:ext uri="{FF2B5EF4-FFF2-40B4-BE49-F238E27FC236}">
                <a16:creationId xmlns:a16="http://schemas.microsoft.com/office/drawing/2014/main" id="{57B5C29D-492E-EECE-7AB6-5CB1E21142B2}"/>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13253417"/>
      </p:ext>
    </p:extLst>
  </p:cSld>
  <p:clrMapOvr>
    <a:masterClrMapping/>
  </p:clrMapOvr>
  <mc:AlternateContent xmlns:mc="http://schemas.openxmlformats.org/markup-compatibility/2006" xmlns:p14="http://schemas.microsoft.com/office/powerpoint/2010/main">
    <mc:Choice Requires="p14">
      <p:transition spd="slow" p14:dur="2000" advTm="72423"/>
    </mc:Choice>
    <mc:Fallback xmlns="">
      <p:transition spd="slow" advTm="724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2E92C-D54F-513E-BD22-2FB4A64E0EC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963D451-374D-19CD-9DD5-3727B945BDBA}"/>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9D8EECC4-05D7-0078-BBB9-0CEB606D7C22}"/>
              </a:ext>
            </a:extLst>
          </p:cNvPr>
          <p:cNvSpPr txBox="1"/>
          <p:nvPr/>
        </p:nvSpPr>
        <p:spPr>
          <a:xfrm>
            <a:off x="2288017" y="221301"/>
            <a:ext cx="7614520" cy="523220"/>
          </a:xfrm>
          <a:prstGeom prst="rect">
            <a:avLst/>
          </a:prstGeom>
          <a:noFill/>
        </p:spPr>
        <p:txBody>
          <a:bodyPr wrap="none" rtlCol="0">
            <a:spAutoFit/>
          </a:bodyPr>
          <a:lstStyle/>
          <a:p>
            <a:r>
              <a:rPr lang="en-US" sz="2800" dirty="0">
                <a:latin typeface="Arial Black" panose="020B0A04020102020204" pitchFamily="34" charset="0"/>
              </a:rPr>
              <a:t>MODEL PERFORMANCE COMPARISON</a:t>
            </a:r>
          </a:p>
        </p:txBody>
      </p:sp>
      <p:sp>
        <p:nvSpPr>
          <p:cNvPr id="5" name="TextBox 4">
            <a:extLst>
              <a:ext uri="{FF2B5EF4-FFF2-40B4-BE49-F238E27FC236}">
                <a16:creationId xmlns:a16="http://schemas.microsoft.com/office/drawing/2014/main" id="{46A0F2E6-6DC0-3FEE-0130-C20A408384A2}"/>
              </a:ext>
            </a:extLst>
          </p:cNvPr>
          <p:cNvSpPr txBox="1"/>
          <p:nvPr/>
        </p:nvSpPr>
        <p:spPr>
          <a:xfrm>
            <a:off x="118716" y="3376491"/>
            <a:ext cx="6095276" cy="1477328"/>
          </a:xfrm>
          <a:prstGeom prst="rect">
            <a:avLst/>
          </a:prstGeom>
          <a:noFill/>
        </p:spPr>
        <p:txBody>
          <a:bodyPr wrap="square">
            <a:spAutoFit/>
          </a:bodyPr>
          <a:lstStyle/>
          <a:p>
            <a:pPr>
              <a:buNone/>
            </a:pPr>
            <a:endParaRPr lang="en-US" b="1" dirty="0"/>
          </a:p>
          <a:p>
            <a:pPr>
              <a:buNone/>
            </a:pPr>
            <a:r>
              <a:rPr lang="en-US" b="1" dirty="0"/>
              <a:t>Findings</a:t>
            </a:r>
          </a:p>
          <a:p>
            <a:pPr marL="285750" indent="-285750">
              <a:buFont typeface="Wingdings" panose="05000000000000000000" pitchFamily="2" charset="2"/>
              <a:buChar char="Ø"/>
            </a:pPr>
            <a:r>
              <a:rPr lang="en-US" dirty="0"/>
              <a:t>All models performed well </a:t>
            </a:r>
          </a:p>
          <a:p>
            <a:pPr marL="285750" indent="-285750">
              <a:buFont typeface="Wingdings" panose="05000000000000000000" pitchFamily="2" charset="2"/>
              <a:buChar char="Ø"/>
            </a:pPr>
            <a:r>
              <a:rPr lang="en-US" dirty="0"/>
              <a:t>Ensemble methods outperformed the Decision Tree </a:t>
            </a:r>
          </a:p>
          <a:p>
            <a:pPr marL="285750" indent="-285750">
              <a:buFont typeface="Wingdings" panose="05000000000000000000" pitchFamily="2" charset="2"/>
              <a:buChar char="Ø"/>
            </a:pPr>
            <a:r>
              <a:rPr lang="en-US" dirty="0"/>
              <a:t>XGBoost achieved the strongest overall performance</a:t>
            </a:r>
          </a:p>
        </p:txBody>
      </p:sp>
      <p:sp>
        <p:nvSpPr>
          <p:cNvPr id="8" name="TextBox 7">
            <a:extLst>
              <a:ext uri="{FF2B5EF4-FFF2-40B4-BE49-F238E27FC236}">
                <a16:creationId xmlns:a16="http://schemas.microsoft.com/office/drawing/2014/main" id="{6C4F5480-1E10-FB7B-251A-8034525D76F0}"/>
              </a:ext>
            </a:extLst>
          </p:cNvPr>
          <p:cNvSpPr txBox="1"/>
          <p:nvPr/>
        </p:nvSpPr>
        <p:spPr>
          <a:xfrm>
            <a:off x="118716" y="1309433"/>
            <a:ext cx="3346494" cy="1200329"/>
          </a:xfrm>
          <a:prstGeom prst="rect">
            <a:avLst/>
          </a:prstGeom>
          <a:noFill/>
        </p:spPr>
        <p:txBody>
          <a:bodyPr wrap="none" rtlCol="0">
            <a:spAutoFit/>
          </a:bodyPr>
          <a:lstStyle/>
          <a:p>
            <a:pPr>
              <a:buNone/>
            </a:pPr>
            <a:r>
              <a:rPr lang="en-US" b="1" dirty="0"/>
              <a:t>Which Model Performed Best?</a:t>
            </a:r>
          </a:p>
          <a:p>
            <a:pPr>
              <a:buNone/>
            </a:pPr>
            <a:endParaRPr lang="en-US" b="1" dirty="0"/>
          </a:p>
          <a:p>
            <a:pPr>
              <a:buNone/>
            </a:pPr>
            <a:r>
              <a:rPr lang="en-US" b="1" dirty="0"/>
              <a:t>Results Summary</a:t>
            </a:r>
          </a:p>
          <a:p>
            <a:endParaRPr lang="en-US" dirty="0"/>
          </a:p>
        </p:txBody>
      </p:sp>
      <p:pic>
        <p:nvPicPr>
          <p:cNvPr id="9" name="Picture 8">
            <a:extLst>
              <a:ext uri="{FF2B5EF4-FFF2-40B4-BE49-F238E27FC236}">
                <a16:creationId xmlns:a16="http://schemas.microsoft.com/office/drawing/2014/main" id="{A771C581-EFB4-E419-69CB-75E9301FB999}"/>
              </a:ext>
            </a:extLst>
          </p:cNvPr>
          <p:cNvPicPr>
            <a:picLocks noChangeAspect="1"/>
          </p:cNvPicPr>
          <p:nvPr/>
        </p:nvPicPr>
        <p:blipFill>
          <a:blip r:embed="rId6"/>
          <a:stretch>
            <a:fillRect/>
          </a:stretch>
        </p:blipFill>
        <p:spPr>
          <a:xfrm>
            <a:off x="205730" y="2232452"/>
            <a:ext cx="11779094" cy="1303079"/>
          </a:xfrm>
          <a:prstGeom prst="rect">
            <a:avLst/>
          </a:prstGeom>
        </p:spPr>
      </p:pic>
      <p:pic>
        <p:nvPicPr>
          <p:cNvPr id="6" name="Audio 5">
            <a:hlinkClick r:id="" action="ppaction://media"/>
            <a:extLst>
              <a:ext uri="{FF2B5EF4-FFF2-40B4-BE49-F238E27FC236}">
                <a16:creationId xmlns:a16="http://schemas.microsoft.com/office/drawing/2014/main" id="{19CE7B61-BFBA-DF32-3A30-60B06C4781A5}"/>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387954064"/>
      </p:ext>
    </p:extLst>
  </p:cSld>
  <p:clrMapOvr>
    <a:masterClrMapping/>
  </p:clrMapOvr>
  <mc:AlternateContent xmlns:mc="http://schemas.openxmlformats.org/markup-compatibility/2006" xmlns:p14="http://schemas.microsoft.com/office/powerpoint/2010/main">
    <mc:Choice Requires="p14">
      <p:transition spd="slow" p14:dur="2000" advTm="75442"/>
    </mc:Choice>
    <mc:Fallback xmlns="">
      <p:transition spd="slow" advTm="754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7631-C271-F6F6-51FF-8426C25C63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4306AC4-41CB-9059-622F-CB0750B4FCEB}"/>
              </a:ext>
            </a:extLst>
          </p:cNvPr>
          <p:cNvPicPr>
            <a:picLocks noGrp="1" noRot="1" noChangeAspec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6E9F2B2C-10BC-ED05-E0A7-5158B60F7E17}"/>
              </a:ext>
            </a:extLst>
          </p:cNvPr>
          <p:cNvSpPr txBox="1"/>
          <p:nvPr/>
        </p:nvSpPr>
        <p:spPr>
          <a:xfrm>
            <a:off x="3487016" y="264320"/>
            <a:ext cx="5217967" cy="523220"/>
          </a:xfrm>
          <a:prstGeom prst="rect">
            <a:avLst/>
          </a:prstGeom>
          <a:noFill/>
        </p:spPr>
        <p:txBody>
          <a:bodyPr wrap="none" rtlCol="0">
            <a:spAutoFit/>
          </a:bodyPr>
          <a:lstStyle/>
          <a:p>
            <a:r>
              <a:rPr lang="en-US" sz="2800" dirty="0">
                <a:latin typeface="Arial Black" panose="020B0A04020102020204" pitchFamily="34" charset="0"/>
              </a:rPr>
              <a:t>XGBOOST OPTIMIZATION</a:t>
            </a:r>
          </a:p>
        </p:txBody>
      </p:sp>
      <p:sp>
        <p:nvSpPr>
          <p:cNvPr id="7" name="TextBox 6">
            <a:extLst>
              <a:ext uri="{FF2B5EF4-FFF2-40B4-BE49-F238E27FC236}">
                <a16:creationId xmlns:a16="http://schemas.microsoft.com/office/drawing/2014/main" id="{35283F8F-FCFB-B8F8-9635-9E0EE7FF30CA}"/>
              </a:ext>
            </a:extLst>
          </p:cNvPr>
          <p:cNvSpPr txBox="1"/>
          <p:nvPr/>
        </p:nvSpPr>
        <p:spPr>
          <a:xfrm>
            <a:off x="44193" y="1809800"/>
            <a:ext cx="5619887" cy="3139321"/>
          </a:xfrm>
          <a:prstGeom prst="rect">
            <a:avLst/>
          </a:prstGeom>
          <a:noFill/>
        </p:spPr>
        <p:txBody>
          <a:bodyPr wrap="square" rtlCol="0">
            <a:spAutoFit/>
          </a:bodyPr>
          <a:lstStyle/>
          <a:p>
            <a:r>
              <a:rPr lang="en-US" b="1" dirty="0"/>
              <a:t>Improving the Best Model</a:t>
            </a:r>
          </a:p>
          <a:p>
            <a:endParaRPr lang="en-US" b="1" dirty="0"/>
          </a:p>
          <a:p>
            <a:r>
              <a:rPr lang="en-US" b="1" dirty="0"/>
              <a:t>Optimization Process</a:t>
            </a:r>
          </a:p>
          <a:p>
            <a:pPr marL="285750" indent="-285750">
              <a:buFont typeface="Wingdings" panose="05000000000000000000" pitchFamily="2" charset="2"/>
              <a:buChar char="Ø"/>
            </a:pPr>
            <a:r>
              <a:rPr lang="en-US" dirty="0"/>
              <a:t>Hyperparameter tuning </a:t>
            </a:r>
          </a:p>
          <a:p>
            <a:pPr marL="285750" indent="-285750">
              <a:buFont typeface="Wingdings" panose="05000000000000000000" pitchFamily="2" charset="2"/>
              <a:buChar char="Ø"/>
            </a:pPr>
            <a:r>
              <a:rPr lang="en-US" dirty="0"/>
              <a:t>Cross-validation </a:t>
            </a:r>
          </a:p>
          <a:p>
            <a:pPr marL="285750" indent="-285750">
              <a:buFont typeface="Wingdings" panose="05000000000000000000" pitchFamily="2" charset="2"/>
              <a:buChar char="Ø"/>
            </a:pPr>
            <a:r>
              <a:rPr lang="en-US" dirty="0"/>
              <a:t>Performance validation </a:t>
            </a:r>
          </a:p>
          <a:p>
            <a:endParaRPr lang="en-US" dirty="0"/>
          </a:p>
          <a:p>
            <a:r>
              <a:rPr lang="en-US" b="1" dirty="0"/>
              <a:t>Result</a:t>
            </a:r>
          </a:p>
          <a:p>
            <a:r>
              <a:rPr lang="en-US" dirty="0"/>
              <a:t>Optimized XGBoost improved predictive reliability and became the final recommended model.</a:t>
            </a:r>
          </a:p>
          <a:p>
            <a:endParaRPr lang="en-US" dirty="0"/>
          </a:p>
        </p:txBody>
      </p:sp>
      <p:pic>
        <p:nvPicPr>
          <p:cNvPr id="5" name="Picture 4">
            <a:extLst>
              <a:ext uri="{FF2B5EF4-FFF2-40B4-BE49-F238E27FC236}">
                <a16:creationId xmlns:a16="http://schemas.microsoft.com/office/drawing/2014/main" id="{8D735053-0A15-633B-4F0C-CECF5C4130AE}"/>
              </a:ext>
            </a:extLst>
          </p:cNvPr>
          <p:cNvPicPr>
            <a:picLocks noChangeAspect="1"/>
          </p:cNvPicPr>
          <p:nvPr/>
        </p:nvPicPr>
        <p:blipFill>
          <a:blip r:embed="rId6"/>
          <a:stretch>
            <a:fillRect/>
          </a:stretch>
        </p:blipFill>
        <p:spPr>
          <a:xfrm>
            <a:off x="7248874" y="2115232"/>
            <a:ext cx="3358331" cy="2062897"/>
          </a:xfrm>
          <a:prstGeom prst="rect">
            <a:avLst/>
          </a:prstGeom>
        </p:spPr>
      </p:pic>
      <p:pic>
        <p:nvPicPr>
          <p:cNvPr id="6" name="Audio 5">
            <a:hlinkClick r:id="" action="ppaction://media"/>
            <a:extLst>
              <a:ext uri="{FF2B5EF4-FFF2-40B4-BE49-F238E27FC236}">
                <a16:creationId xmlns:a16="http://schemas.microsoft.com/office/drawing/2014/main" id="{2774AD31-CBA8-41C8-E2B6-36DF06DB3A6C}"/>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45891" t="-245891" r="-245891" b="-245891"/>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13702536"/>
      </p:ext>
    </p:extLst>
  </p:cSld>
  <p:clrMapOvr>
    <a:masterClrMapping/>
  </p:clrMapOvr>
  <mc:AlternateContent xmlns:mc="http://schemas.openxmlformats.org/markup-compatibility/2006" xmlns:p14="http://schemas.microsoft.com/office/powerpoint/2010/main">
    <mc:Choice Requires="p14">
      <p:transition spd="slow" p14:dur="2000" advTm="87169"/>
    </mc:Choice>
    <mc:Fallback xmlns="">
      <p:transition spd="slow" advTm="871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082A-5AD8-0AB2-37A9-4F960BE4A1F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659E9A-4BB1-7608-63C3-D001F8EF1519}"/>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29B1B872-03C8-D2A0-493D-F1B50CAA86D7}"/>
              </a:ext>
            </a:extLst>
          </p:cNvPr>
          <p:cNvSpPr txBox="1"/>
          <p:nvPr/>
        </p:nvSpPr>
        <p:spPr>
          <a:xfrm>
            <a:off x="3048025" y="204517"/>
            <a:ext cx="6104235" cy="523220"/>
          </a:xfrm>
          <a:prstGeom prst="rect">
            <a:avLst/>
          </a:prstGeom>
          <a:noFill/>
        </p:spPr>
        <p:txBody>
          <a:bodyPr wrap="none" rtlCol="0">
            <a:spAutoFit/>
          </a:bodyPr>
          <a:lstStyle/>
          <a:p>
            <a:r>
              <a:rPr lang="en-US" sz="2800" dirty="0">
                <a:latin typeface="Arial Black" panose="020B0A04020102020204" pitchFamily="34" charset="0"/>
              </a:rPr>
              <a:t>FINAL MODEL PERFORMANCE</a:t>
            </a:r>
          </a:p>
        </p:txBody>
      </p:sp>
      <p:pic>
        <p:nvPicPr>
          <p:cNvPr id="6" name="Picture 5">
            <a:extLst>
              <a:ext uri="{FF2B5EF4-FFF2-40B4-BE49-F238E27FC236}">
                <a16:creationId xmlns:a16="http://schemas.microsoft.com/office/drawing/2014/main" id="{D96575FF-3912-6A4E-CF88-8FCFC5045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6209" y="932254"/>
            <a:ext cx="5692102" cy="5214987"/>
          </a:xfrm>
          <a:prstGeom prst="rect">
            <a:avLst/>
          </a:prstGeom>
        </p:spPr>
      </p:pic>
      <p:sp>
        <p:nvSpPr>
          <p:cNvPr id="7" name="TextBox 6">
            <a:extLst>
              <a:ext uri="{FF2B5EF4-FFF2-40B4-BE49-F238E27FC236}">
                <a16:creationId xmlns:a16="http://schemas.microsoft.com/office/drawing/2014/main" id="{5ADD2694-4467-B5CE-08E6-E3BC438AEDB6}"/>
              </a:ext>
            </a:extLst>
          </p:cNvPr>
          <p:cNvSpPr txBox="1"/>
          <p:nvPr/>
        </p:nvSpPr>
        <p:spPr>
          <a:xfrm>
            <a:off x="108341" y="3750255"/>
            <a:ext cx="5619887" cy="1754326"/>
          </a:xfrm>
          <a:prstGeom prst="rect">
            <a:avLst/>
          </a:prstGeom>
          <a:noFill/>
        </p:spPr>
        <p:txBody>
          <a:bodyPr wrap="square" rtlCol="0">
            <a:spAutoFit/>
          </a:bodyPr>
          <a:lstStyle/>
          <a:p>
            <a:endParaRPr lang="en-US" b="1" dirty="0"/>
          </a:p>
          <a:p>
            <a:r>
              <a:rPr lang="en-US" b="1" dirty="0"/>
              <a:t>Key Business Metric</a:t>
            </a:r>
          </a:p>
          <a:p>
            <a:r>
              <a:rPr lang="en-US" dirty="0"/>
              <a:t>95% Recall</a:t>
            </a:r>
          </a:p>
          <a:p>
            <a:r>
              <a:rPr lang="en-US" dirty="0"/>
              <a:t>The model successfully identifies most at-risk students.</a:t>
            </a:r>
          </a:p>
          <a:p>
            <a:endParaRPr lang="en-US" dirty="0"/>
          </a:p>
        </p:txBody>
      </p:sp>
      <p:pic>
        <p:nvPicPr>
          <p:cNvPr id="9" name="Picture 8">
            <a:extLst>
              <a:ext uri="{FF2B5EF4-FFF2-40B4-BE49-F238E27FC236}">
                <a16:creationId xmlns:a16="http://schemas.microsoft.com/office/drawing/2014/main" id="{4C0FE33E-B6BA-B9BE-8AD6-B99A022C5E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689" y="2270653"/>
            <a:ext cx="4529020" cy="1601100"/>
          </a:xfrm>
          <a:prstGeom prst="rect">
            <a:avLst/>
          </a:prstGeom>
        </p:spPr>
      </p:pic>
      <p:sp>
        <p:nvSpPr>
          <p:cNvPr id="3" name="TextBox 2">
            <a:extLst>
              <a:ext uri="{FF2B5EF4-FFF2-40B4-BE49-F238E27FC236}">
                <a16:creationId xmlns:a16="http://schemas.microsoft.com/office/drawing/2014/main" id="{F0228448-B556-586F-B418-6B11EE1D7FC8}"/>
              </a:ext>
            </a:extLst>
          </p:cNvPr>
          <p:cNvSpPr txBox="1"/>
          <p:nvPr/>
        </p:nvSpPr>
        <p:spPr>
          <a:xfrm>
            <a:off x="108341" y="1353419"/>
            <a:ext cx="2838919" cy="1200329"/>
          </a:xfrm>
          <a:prstGeom prst="rect">
            <a:avLst/>
          </a:prstGeom>
          <a:noFill/>
        </p:spPr>
        <p:txBody>
          <a:bodyPr wrap="none" rtlCol="0">
            <a:spAutoFit/>
          </a:bodyPr>
          <a:lstStyle/>
          <a:p>
            <a:r>
              <a:rPr lang="en-US" b="1" dirty="0"/>
              <a:t>Improving the Best Model</a:t>
            </a:r>
          </a:p>
          <a:p>
            <a:endParaRPr lang="en-US" b="1" dirty="0"/>
          </a:p>
          <a:p>
            <a:r>
              <a:rPr lang="en-US" b="1" dirty="0"/>
              <a:t>Final XGBoost Results</a:t>
            </a:r>
          </a:p>
          <a:p>
            <a:endParaRPr lang="en-US" dirty="0"/>
          </a:p>
        </p:txBody>
      </p:sp>
    </p:spTree>
    <p:extLst>
      <p:ext uri="{BB962C8B-B14F-4D97-AF65-F5344CB8AC3E}">
        <p14:creationId xmlns:p14="http://schemas.microsoft.com/office/powerpoint/2010/main" val="354011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7454-C550-38A0-0F88-84617D9EC75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8A68B9-9FF1-53A8-CEE8-0BB9EC5590A5}"/>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A231151-B772-A39E-9AC1-325F8497BB34}"/>
              </a:ext>
            </a:extLst>
          </p:cNvPr>
          <p:cNvSpPr txBox="1"/>
          <p:nvPr/>
        </p:nvSpPr>
        <p:spPr>
          <a:xfrm>
            <a:off x="2963571" y="173347"/>
            <a:ext cx="6328271" cy="523220"/>
          </a:xfrm>
          <a:prstGeom prst="rect">
            <a:avLst/>
          </a:prstGeom>
          <a:noFill/>
        </p:spPr>
        <p:txBody>
          <a:bodyPr wrap="none" rtlCol="0">
            <a:spAutoFit/>
          </a:bodyPr>
          <a:lstStyle/>
          <a:p>
            <a:r>
              <a:rPr lang="en-US" sz="2800" dirty="0">
                <a:latin typeface="Arial Black" panose="020B0A04020102020204" pitchFamily="34" charset="0"/>
              </a:rPr>
              <a:t>WHAT DRIVES STUDENT RISK?</a:t>
            </a:r>
          </a:p>
        </p:txBody>
      </p:sp>
      <p:sp>
        <p:nvSpPr>
          <p:cNvPr id="5" name="TextBox 4">
            <a:extLst>
              <a:ext uri="{FF2B5EF4-FFF2-40B4-BE49-F238E27FC236}">
                <a16:creationId xmlns:a16="http://schemas.microsoft.com/office/drawing/2014/main" id="{7F58A23A-1B86-D816-3C70-A2EA6290928C}"/>
              </a:ext>
            </a:extLst>
          </p:cNvPr>
          <p:cNvSpPr txBox="1"/>
          <p:nvPr/>
        </p:nvSpPr>
        <p:spPr>
          <a:xfrm>
            <a:off x="243239" y="1512125"/>
            <a:ext cx="3766657" cy="3970318"/>
          </a:xfrm>
          <a:prstGeom prst="rect">
            <a:avLst/>
          </a:prstGeom>
          <a:noFill/>
        </p:spPr>
        <p:txBody>
          <a:bodyPr wrap="square" rtlCol="0">
            <a:spAutoFit/>
          </a:bodyPr>
          <a:lstStyle/>
          <a:p>
            <a:r>
              <a:rPr lang="en-US" b="1" dirty="0"/>
              <a:t>Most Important Risk Factors</a:t>
            </a:r>
          </a:p>
          <a:p>
            <a:endParaRPr lang="en-US" b="1" dirty="0"/>
          </a:p>
          <a:p>
            <a:r>
              <a:rPr lang="en-US" b="1" dirty="0"/>
              <a:t>Top Predictors</a:t>
            </a:r>
          </a:p>
          <a:p>
            <a:pPr marL="800100" lvl="1" indent="-342900">
              <a:buFont typeface="Wingdings" panose="05000000000000000000" pitchFamily="2" charset="2"/>
              <a:buChar char="Ø"/>
            </a:pPr>
            <a:r>
              <a:rPr lang="en-US" dirty="0"/>
              <a:t>Absences </a:t>
            </a:r>
          </a:p>
          <a:p>
            <a:pPr marL="800100" lvl="1" indent="-342900">
              <a:buFont typeface="Wingdings" panose="05000000000000000000" pitchFamily="2" charset="2"/>
              <a:buChar char="Ø"/>
            </a:pPr>
            <a:r>
              <a:rPr lang="en-US" dirty="0"/>
              <a:t>Study Time </a:t>
            </a:r>
          </a:p>
          <a:p>
            <a:pPr marL="800100" lvl="1" indent="-342900">
              <a:buFont typeface="Wingdings" panose="05000000000000000000" pitchFamily="2" charset="2"/>
              <a:buChar char="Ø"/>
            </a:pPr>
            <a:r>
              <a:rPr lang="en-US" dirty="0"/>
              <a:t>Parental Support </a:t>
            </a:r>
          </a:p>
          <a:p>
            <a:pPr marL="800100" lvl="1" indent="-342900">
              <a:buFont typeface="Wingdings" panose="05000000000000000000" pitchFamily="2" charset="2"/>
              <a:buChar char="Ø"/>
            </a:pPr>
            <a:r>
              <a:rPr lang="en-US" dirty="0"/>
              <a:t>Tutoring Participation </a:t>
            </a:r>
          </a:p>
          <a:p>
            <a:pPr marL="800100" lvl="1" indent="-342900">
              <a:buFont typeface="Wingdings" panose="05000000000000000000" pitchFamily="2" charset="2"/>
              <a:buChar char="Ø"/>
            </a:pPr>
            <a:r>
              <a:rPr lang="en-US" dirty="0"/>
              <a:t>Educational Engagement </a:t>
            </a:r>
          </a:p>
          <a:p>
            <a:endParaRPr lang="en-US" dirty="0"/>
          </a:p>
          <a:p>
            <a:r>
              <a:rPr lang="en-US" b="1" dirty="0"/>
              <a:t>Business Insight</a:t>
            </a:r>
          </a:p>
          <a:p>
            <a:r>
              <a:rPr lang="en-US" dirty="0"/>
              <a:t>Student success is strongly influenced by attendance, study habits, and support systems.</a:t>
            </a:r>
          </a:p>
          <a:p>
            <a:endParaRPr lang="en-US" dirty="0"/>
          </a:p>
        </p:txBody>
      </p:sp>
      <p:pic>
        <p:nvPicPr>
          <p:cNvPr id="7" name="Picture 6">
            <a:extLst>
              <a:ext uri="{FF2B5EF4-FFF2-40B4-BE49-F238E27FC236}">
                <a16:creationId xmlns:a16="http://schemas.microsoft.com/office/drawing/2014/main" id="{252A690D-147B-DD1A-45D8-5FC0B1B81B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4198" y="1157735"/>
            <a:ext cx="8267802" cy="4932259"/>
          </a:xfrm>
          <a:prstGeom prst="rect">
            <a:avLst/>
          </a:prstGeom>
        </p:spPr>
      </p:pic>
    </p:spTree>
    <p:extLst>
      <p:ext uri="{BB962C8B-B14F-4D97-AF65-F5344CB8AC3E}">
        <p14:creationId xmlns:p14="http://schemas.microsoft.com/office/powerpoint/2010/main" val="3610023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1DB8-84D3-D214-5C46-E272F7409D8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85719B9-F8B5-C781-EA7A-9F905370966D}"/>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EF1E15E-B167-DA77-BF78-907CD1C2E873}"/>
              </a:ext>
            </a:extLst>
          </p:cNvPr>
          <p:cNvSpPr txBox="1"/>
          <p:nvPr/>
        </p:nvSpPr>
        <p:spPr>
          <a:xfrm>
            <a:off x="2865019" y="231758"/>
            <a:ext cx="6461962" cy="523220"/>
          </a:xfrm>
          <a:prstGeom prst="rect">
            <a:avLst/>
          </a:prstGeom>
          <a:noFill/>
        </p:spPr>
        <p:txBody>
          <a:bodyPr wrap="none" rtlCol="0">
            <a:spAutoFit/>
          </a:bodyPr>
          <a:lstStyle/>
          <a:p>
            <a:r>
              <a:rPr lang="en-US" sz="2800" dirty="0">
                <a:latin typeface="Arial Black" panose="020B0A04020102020204" pitchFamily="34" charset="0"/>
              </a:rPr>
              <a:t>RISKS, ETHICS &amp; DEPLOYMENT</a:t>
            </a:r>
          </a:p>
        </p:txBody>
      </p:sp>
      <p:pic>
        <p:nvPicPr>
          <p:cNvPr id="6" name="Picture 5">
            <a:extLst>
              <a:ext uri="{FF2B5EF4-FFF2-40B4-BE49-F238E27FC236}">
                <a16:creationId xmlns:a16="http://schemas.microsoft.com/office/drawing/2014/main" id="{DDAC4F61-BE61-7A48-AC82-777867EF91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47596" y="1139621"/>
            <a:ext cx="3434068" cy="4578757"/>
          </a:xfrm>
          <a:prstGeom prst="rect">
            <a:avLst/>
          </a:prstGeom>
        </p:spPr>
      </p:pic>
      <p:sp>
        <p:nvSpPr>
          <p:cNvPr id="7" name="TextBox 6">
            <a:extLst>
              <a:ext uri="{FF2B5EF4-FFF2-40B4-BE49-F238E27FC236}">
                <a16:creationId xmlns:a16="http://schemas.microsoft.com/office/drawing/2014/main" id="{D9A33D3C-EE74-67FE-14CF-2DC6BEA725B2}"/>
              </a:ext>
            </a:extLst>
          </p:cNvPr>
          <p:cNvSpPr txBox="1"/>
          <p:nvPr/>
        </p:nvSpPr>
        <p:spPr>
          <a:xfrm>
            <a:off x="463998" y="1509956"/>
            <a:ext cx="6909392" cy="4247317"/>
          </a:xfrm>
          <a:prstGeom prst="rect">
            <a:avLst/>
          </a:prstGeom>
          <a:noFill/>
        </p:spPr>
        <p:txBody>
          <a:bodyPr wrap="none" rtlCol="0">
            <a:spAutoFit/>
          </a:bodyPr>
          <a:lstStyle/>
          <a:p>
            <a:r>
              <a:rPr lang="en-US" b="1" dirty="0"/>
              <a:t>Risks and Deployment Strategy</a:t>
            </a:r>
          </a:p>
          <a:p>
            <a:endParaRPr lang="en-US" b="1" dirty="0"/>
          </a:p>
          <a:p>
            <a:r>
              <a:rPr lang="en-US" b="1" dirty="0"/>
              <a:t>Risks</a:t>
            </a:r>
          </a:p>
          <a:p>
            <a:pPr marL="742950" lvl="1" indent="-285750">
              <a:buFont typeface="Wingdings" panose="05000000000000000000" pitchFamily="2" charset="2"/>
              <a:buChar char="Ø"/>
            </a:pPr>
            <a:r>
              <a:rPr lang="en-US" dirty="0"/>
              <a:t>Potential prediction bias </a:t>
            </a:r>
          </a:p>
          <a:p>
            <a:pPr marL="742950" lvl="1" indent="-285750">
              <a:buFont typeface="Wingdings" panose="05000000000000000000" pitchFamily="2" charset="2"/>
              <a:buChar char="Ø"/>
            </a:pPr>
            <a:r>
              <a:rPr lang="en-US" dirty="0"/>
              <a:t>Data privacy concerns </a:t>
            </a:r>
          </a:p>
          <a:p>
            <a:pPr marL="742950" lvl="1" indent="-285750">
              <a:buFont typeface="Wingdings" panose="05000000000000000000" pitchFamily="2" charset="2"/>
              <a:buChar char="Ø"/>
            </a:pPr>
            <a:r>
              <a:rPr lang="en-US" dirty="0"/>
              <a:t>Overreliance on automated decisions </a:t>
            </a:r>
          </a:p>
          <a:p>
            <a:endParaRPr lang="en-US" dirty="0"/>
          </a:p>
          <a:p>
            <a:r>
              <a:rPr lang="en-US" b="1" dirty="0"/>
              <a:t>Mitigations</a:t>
            </a:r>
          </a:p>
          <a:p>
            <a:pPr marL="742950" lvl="1" indent="-285750">
              <a:buFont typeface="Wingdings" panose="05000000000000000000" pitchFamily="2" charset="2"/>
              <a:buChar char="Ø"/>
            </a:pPr>
            <a:r>
              <a:rPr lang="en-US" dirty="0"/>
              <a:t>Human review of predictions </a:t>
            </a:r>
          </a:p>
          <a:p>
            <a:pPr marL="742950" lvl="1" indent="-285750">
              <a:buFont typeface="Wingdings" panose="05000000000000000000" pitchFamily="2" charset="2"/>
              <a:buChar char="Ø"/>
            </a:pPr>
            <a:r>
              <a:rPr lang="en-US" dirty="0"/>
              <a:t>Regular model monitoring </a:t>
            </a:r>
          </a:p>
          <a:p>
            <a:pPr marL="742950" lvl="1" indent="-285750">
              <a:buFont typeface="Wingdings" panose="05000000000000000000" pitchFamily="2" charset="2"/>
              <a:buChar char="Ø"/>
            </a:pPr>
            <a:r>
              <a:rPr lang="en-US" dirty="0"/>
              <a:t>Student data protection policies </a:t>
            </a:r>
          </a:p>
          <a:p>
            <a:endParaRPr lang="en-US" dirty="0"/>
          </a:p>
          <a:p>
            <a:r>
              <a:rPr lang="en-US" b="1" dirty="0"/>
              <a:t>Deployment</a:t>
            </a:r>
          </a:p>
          <a:p>
            <a:r>
              <a:rPr lang="en-US" dirty="0"/>
              <a:t>Weekly batch prediction system</a:t>
            </a:r>
          </a:p>
          <a:p>
            <a:r>
              <a:rPr lang="en-US" dirty="0"/>
              <a:t>Student Data → XGBoost → Risk Dashboard → Counselor Intervention</a:t>
            </a:r>
          </a:p>
        </p:txBody>
      </p:sp>
    </p:spTree>
    <p:extLst>
      <p:ext uri="{BB962C8B-B14F-4D97-AF65-F5344CB8AC3E}">
        <p14:creationId xmlns:p14="http://schemas.microsoft.com/office/powerpoint/2010/main" val="35791795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F2834-2ED1-B4FA-7C23-717937488D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48DAFD6-5EFF-48F2-F6F3-17AFCBF138F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EB066A71-C69C-26C8-06BE-4B9C91AFA959}"/>
              </a:ext>
            </a:extLst>
          </p:cNvPr>
          <p:cNvSpPr txBox="1"/>
          <p:nvPr/>
        </p:nvSpPr>
        <p:spPr>
          <a:xfrm>
            <a:off x="2937282" y="184101"/>
            <a:ext cx="6317435" cy="523220"/>
          </a:xfrm>
          <a:prstGeom prst="rect">
            <a:avLst/>
          </a:prstGeom>
          <a:noFill/>
        </p:spPr>
        <p:txBody>
          <a:bodyPr wrap="none" rtlCol="0">
            <a:spAutoFit/>
          </a:bodyPr>
          <a:lstStyle/>
          <a:p>
            <a:r>
              <a:rPr lang="en-US" sz="2800" dirty="0">
                <a:latin typeface="Arial Black" panose="020B0A04020102020204" pitchFamily="34" charset="0"/>
              </a:rPr>
              <a:t>Recommendation &amp; Conclusion</a:t>
            </a:r>
          </a:p>
        </p:txBody>
      </p:sp>
      <p:sp>
        <p:nvSpPr>
          <p:cNvPr id="5" name="TextBox 4">
            <a:extLst>
              <a:ext uri="{FF2B5EF4-FFF2-40B4-BE49-F238E27FC236}">
                <a16:creationId xmlns:a16="http://schemas.microsoft.com/office/drawing/2014/main" id="{EE46697F-A4C7-A7A9-D4D0-1F7A7F8A41D4}"/>
              </a:ext>
            </a:extLst>
          </p:cNvPr>
          <p:cNvSpPr txBox="1"/>
          <p:nvPr/>
        </p:nvSpPr>
        <p:spPr>
          <a:xfrm>
            <a:off x="43461" y="1523806"/>
            <a:ext cx="5241604" cy="4247317"/>
          </a:xfrm>
          <a:prstGeom prst="rect">
            <a:avLst/>
          </a:prstGeom>
          <a:noFill/>
        </p:spPr>
        <p:txBody>
          <a:bodyPr wrap="square" rtlCol="0">
            <a:spAutoFit/>
          </a:bodyPr>
          <a:lstStyle/>
          <a:p>
            <a:r>
              <a:rPr lang="en-US" b="1" dirty="0"/>
              <a:t>Final Recommendation</a:t>
            </a:r>
          </a:p>
          <a:p>
            <a:r>
              <a:rPr lang="en-US" dirty="0"/>
              <a:t>Deploy the Optimized XGBoost model as an early-warning system for identifying academically at-risk students.</a:t>
            </a:r>
          </a:p>
          <a:p>
            <a:endParaRPr lang="en-US" dirty="0"/>
          </a:p>
          <a:p>
            <a:r>
              <a:rPr lang="en-US" b="1" dirty="0"/>
              <a:t>Benefits</a:t>
            </a:r>
          </a:p>
          <a:p>
            <a:pPr marL="742950" lvl="1" indent="-285750">
              <a:buFont typeface="Wingdings" panose="05000000000000000000" pitchFamily="2" charset="2"/>
              <a:buChar char="q"/>
            </a:pPr>
            <a:r>
              <a:rPr lang="en-US" dirty="0"/>
              <a:t>Earlier intervention</a:t>
            </a:r>
          </a:p>
          <a:p>
            <a:pPr marL="742950" lvl="1" indent="-285750">
              <a:buFont typeface="Wingdings" panose="05000000000000000000" pitchFamily="2" charset="2"/>
              <a:buChar char="q"/>
            </a:pPr>
            <a:r>
              <a:rPr lang="en-US" dirty="0"/>
              <a:t>Better resource allocation</a:t>
            </a:r>
          </a:p>
          <a:p>
            <a:pPr marL="742950" lvl="1" indent="-285750">
              <a:buFont typeface="Wingdings" panose="05000000000000000000" pitchFamily="2" charset="2"/>
              <a:buChar char="q"/>
            </a:pPr>
            <a:r>
              <a:rPr lang="en-US" dirty="0"/>
              <a:t>Improved student outcomes</a:t>
            </a:r>
          </a:p>
          <a:p>
            <a:pPr marL="742950" lvl="1" indent="-285750">
              <a:buFont typeface="Wingdings" panose="05000000000000000000" pitchFamily="2" charset="2"/>
              <a:buChar char="q"/>
            </a:pPr>
            <a:r>
              <a:rPr lang="en-US" dirty="0"/>
              <a:t>Data-driven decision making</a:t>
            </a:r>
          </a:p>
          <a:p>
            <a:endParaRPr lang="en-US" dirty="0"/>
          </a:p>
          <a:p>
            <a:r>
              <a:rPr lang="en-US" b="1" dirty="0"/>
              <a:t>Final Result</a:t>
            </a:r>
          </a:p>
          <a:p>
            <a:r>
              <a:rPr lang="en-US" dirty="0"/>
              <a:t>95% Recall</a:t>
            </a:r>
          </a:p>
          <a:p>
            <a:r>
              <a:rPr lang="en-US" dirty="0"/>
              <a:t>Strong ability to identify students needing support.</a:t>
            </a:r>
          </a:p>
          <a:p>
            <a:endParaRPr lang="en-US" dirty="0"/>
          </a:p>
        </p:txBody>
      </p:sp>
    </p:spTree>
    <p:extLst>
      <p:ext uri="{BB962C8B-B14F-4D97-AF65-F5344CB8AC3E}">
        <p14:creationId xmlns:p14="http://schemas.microsoft.com/office/powerpoint/2010/main" val="2557270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491</TotalTime>
  <Words>3269</Words>
  <Application>Microsoft Office PowerPoint</Application>
  <PresentationFormat>Widescreen</PresentationFormat>
  <Paragraphs>223</Paragraphs>
  <Slides>12</Slides>
  <Notes>12</Notes>
  <HiddenSlides>0</HiddenSlides>
  <MMClips>8</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Arial Black</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Saman Tavasoli</dc:creator>
  <cp:lastModifiedBy>Saman Tavasoli</cp:lastModifiedBy>
  <cp:revision>8</cp:revision>
  <dcterms:created xsi:type="dcterms:W3CDTF">2026-06-17T01:51:35Z</dcterms:created>
  <dcterms:modified xsi:type="dcterms:W3CDTF">2026-06-21T17:23:43Z</dcterms:modified>
</cp:coreProperties>
</file>